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THE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B0B0B0"/>
                </a:solidFill>
                <a:latin typeface="Calibri"/>
              </a:rPr>
              <a:t>Input  ·  Transformation  · 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8080"/>
                </a:solidFill>
                <a:latin typeface="Calibri"/>
              </a:rPr>
              <a:t>Interaction Design 4  ·  NABA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When you walk toward a 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680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and it gets brighter...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B0B0B0"/>
                </a:solidFill>
                <a:latin typeface="Calibri"/>
              </a:rPr>
              <a:t>what’s actually happening?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THE CORE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Three parts. Every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828800" cy="128016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6B9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B0B0B0"/>
                </a:solidFill>
                <a:latin typeface="Calibri"/>
              </a:rPr>
              <a:t>what the space senses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606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808080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286000"/>
            <a:ext cx="2926080" cy="128016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D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3317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D4A853"/>
                </a:solidFill>
                <a:latin typeface="Calibri"/>
              </a:rPr>
              <a:t>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8892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B0B0B0"/>
                </a:solidFill>
                <a:latin typeface="Calibri"/>
              </a:rPr>
              <a:t>how input becomes output</a:t>
            </a:r>
          </a:p>
          <a:p>
            <a:pPr algn="ctr"/>
            <a:r>
              <a:rPr sz="1000" b="0" i="0">
                <a:solidFill>
                  <a:srgbClr val="B0B0B0"/>
                </a:solidFill>
                <a:latin typeface="Calibri"/>
              </a:rPr>
              <a:t>this is where design lives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060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808080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286000"/>
            <a:ext cx="1828800" cy="128016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6B9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B0B0B0"/>
                </a:solidFill>
                <a:latin typeface="Calibri"/>
              </a:rPr>
              <a:t>what the space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1">
                <a:solidFill>
                  <a:srgbClr val="808080"/>
                </a:solidFill>
                <a:latin typeface="Calibri"/>
              </a:rPr>
              <a:t>Every interaction in a responsive space is one atom.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the space can sense about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sz="1200" b="1">
                <a:solidFill>
                  <a:srgbClr val="D4A853"/>
                </a:solidFill>
                <a:latin typeface="Calibri"/>
              </a:rPr>
              <a:t>SPATIAL</a:t>
            </a:r>
          </a:p>
          <a:p>
            <a:pPr>
              <a:lnSpc>
                <a:spcPts val="1800"/>
              </a:lnSpc>
            </a:pPr>
            <a:r>
              <a:rPr sz="1100">
                <a:solidFill>
                  <a:srgbClr val="B0B0B0"/>
                </a:solidFill>
                <a:latin typeface="Calibri"/>
              </a:rPr>
              <a:t>Proximity — how far you are</a:t>
            </a:r>
          </a:p>
          <a:p>
            <a:pPr>
              <a:lnSpc>
                <a:spcPts val="1800"/>
              </a:lnSpc>
            </a:pPr>
            <a:r>
              <a:rPr sz="1100">
                <a:solidFill>
                  <a:srgbClr val="B0B0B0"/>
                </a:solidFill>
                <a:latin typeface="Calibri"/>
              </a:rPr>
              <a:t>Gaze — where you look, for how long</a:t>
            </a:r>
          </a:p>
          <a:p>
            <a:pPr>
              <a:lnSpc>
                <a:spcPts val="1800"/>
              </a:lnSpc>
            </a:pPr>
            <a:r>
              <a:rPr sz="1100">
                <a:solidFill>
                  <a:srgbClr val="B0B0B0"/>
                </a:solidFill>
                <a:latin typeface="Calibri"/>
              </a:rPr>
              <a:t>Stillness — seconds since last movement</a:t>
            </a:r>
          </a:p>
          <a:p>
            <a:pPr>
              <a:lnSpc>
                <a:spcPts val="1800"/>
              </a:lnSpc>
            </a:pPr>
            <a:r>
              <a:rPr sz="1100">
                <a:solidFill>
                  <a:srgbClr val="B0B0B0"/>
                </a:solidFill>
                <a:latin typeface="Calibri"/>
              </a:rPr>
              <a:t>Velocity — how fast you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sz="1200" b="1">
                <a:solidFill>
                  <a:srgbClr val="D4A853"/>
                </a:solidFill>
                <a:latin typeface="Calibri"/>
              </a:rPr>
              <a:t>DIRECT</a:t>
            </a:r>
          </a:p>
          <a:p>
            <a:pPr>
              <a:lnSpc>
                <a:spcPts val="1800"/>
              </a:lnSpc>
            </a:pPr>
            <a:r>
              <a:rPr sz="1100">
                <a:solidFill>
                  <a:srgbClr val="B0B0B0"/>
                </a:solidFill>
                <a:latin typeface="Calibri"/>
              </a:rPr>
              <a:t>Contact — stepping into a zone</a:t>
            </a:r>
          </a:p>
          <a:p>
            <a:pPr>
              <a:lnSpc>
                <a:spcPts val="1800"/>
              </a:lnSpc>
            </a:pPr>
            <a:r>
              <a:rPr sz="1100">
                <a:solidFill>
                  <a:srgbClr val="B0B0B0"/>
                </a:solidFill>
                <a:latin typeface="Calibri"/>
              </a:rPr>
              <a:t>Grab — picking up an object</a:t>
            </a:r>
          </a:p>
          <a:p>
            <a:pPr>
              <a:lnSpc>
                <a:spcPts val="1800"/>
              </a:lnSpc>
            </a:pPr>
            <a:r>
              <a:rPr sz="1100">
                <a:solidFill>
                  <a:srgbClr val="B0B0B0"/>
                </a:solidFill>
                <a:latin typeface="Calibri"/>
              </a:rPr>
              <a:t/>
            </a:r>
          </a:p>
          <a:p>
            <a:pPr>
              <a:lnSpc>
                <a:spcPts val="1800"/>
              </a:lnSpc>
            </a:pPr>
            <a:r>
              <a:rPr sz="1200" b="1">
                <a:solidFill>
                  <a:srgbClr val="D4A853"/>
                </a:solidFill>
                <a:latin typeface="Calibri"/>
              </a:rPr>
              <a:t>INTERFACE</a:t>
            </a:r>
          </a:p>
          <a:p>
            <a:pPr>
              <a:lnSpc>
                <a:spcPts val="1800"/>
              </a:lnSpc>
            </a:pPr>
            <a:r>
              <a:rPr sz="1100">
                <a:solidFill>
                  <a:srgbClr val="B0B0B0"/>
                </a:solidFill>
                <a:latin typeface="Calibri"/>
              </a:rPr>
              <a:t>Button — press / release</a:t>
            </a:r>
          </a:p>
          <a:p>
            <a:pPr>
              <a:lnSpc>
                <a:spcPts val="1800"/>
              </a:lnSpc>
            </a:pPr>
            <a:r>
              <a:rPr sz="1100">
                <a:solidFill>
                  <a:srgbClr val="B0B0B0"/>
                </a:solidFill>
                <a:latin typeface="Calibri"/>
              </a:rPr>
              <a:t>Slider — a continuous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sz="1200" b="1">
                <a:solidFill>
                  <a:srgbClr val="D4A853"/>
                </a:solidFill>
                <a:latin typeface="Calibri"/>
              </a:rPr>
              <a:t>AUTONOMOUS</a:t>
            </a:r>
          </a:p>
          <a:p>
            <a:pPr>
              <a:lnSpc>
                <a:spcPts val="1800"/>
              </a:lnSpc>
            </a:pPr>
            <a:r>
              <a:rPr sz="1100">
                <a:solidFill>
                  <a:srgbClr val="B0B0B0"/>
                </a:solidFill>
                <a:latin typeface="Calibri"/>
              </a:rPr>
              <a:t>Time — clock, oscillation</a:t>
            </a:r>
          </a:p>
          <a:p>
            <a:pPr>
              <a:lnSpc>
                <a:spcPts val="1800"/>
              </a:lnSpc>
            </a:pPr>
            <a:r>
              <a:rPr sz="1100">
                <a:solidFill>
                  <a:srgbClr val="B0B0B0"/>
                </a:solidFill>
                <a:latin typeface="Calibri"/>
              </a:rPr>
              <a:t>Random — unpredictable variation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the space can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920240"/>
            <a:ext cx="6217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B0B0"/>
                </a:solidFill>
                <a:latin typeface="Calibri"/>
              </a:rPr>
              <a:t>intensity, color, shadow, emission glow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331720"/>
            <a:ext cx="6217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B0B0"/>
                </a:solidFill>
                <a:latin typeface="Calibri"/>
              </a:rPr>
              <a:t>color, smoothness, opacity, dissolve, rim glow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Sound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743200"/>
            <a:ext cx="6217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B0B0"/>
                </a:solidFill>
                <a:latin typeface="Calibri"/>
              </a:rPr>
              <a:t>volume, pitch, spatial blend, reverb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Particles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154680"/>
            <a:ext cx="6217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B0B0"/>
                </a:solidFill>
                <a:latin typeface="Calibri"/>
              </a:rPr>
              <a:t>emission rate, size, speed, color, burst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566160"/>
            <a:ext cx="6217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B0B0"/>
                </a:solidFill>
                <a:latin typeface="Calibri"/>
              </a:rPr>
              <a:t>fog, ambient light, skybox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Post-Processing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977639"/>
            <a:ext cx="6217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B0B0"/>
                </a:solidFill>
                <a:latin typeface="Calibri"/>
              </a:rPr>
              <a:t>bloom, saturation, vignette, depth of 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Camera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389120"/>
            <a:ext cx="6217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B0B0"/>
                </a:solidFill>
                <a:latin typeface="Calibri"/>
              </a:rPr>
              <a:t>field of view, shake, 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Same input.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Same output.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Completely different feel.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</a:pPr>
            <a:r>
              <a:rPr sz="1500" b="0" i="0">
                <a:solidFill>
                  <a:srgbClr val="B0B0B0"/>
                </a:solidFill>
                <a:latin typeface="Calibri"/>
              </a:rPr>
              <a:t>The transformation is where design lives.</a:t>
            </a:r>
          </a:p>
          <a:p>
            <a:pPr algn="l">
              <a:lnSpc>
                <a:spcPts val="2400"/>
              </a:lnSpc>
            </a:pPr>
            <a:r>
              <a:rPr sz="1500" b="0" i="0">
                <a:solidFill>
                  <a:srgbClr val="B0B0B0"/>
                </a:solidFill>
                <a:latin typeface="Calibri"/>
              </a:rPr>
              <a:t>It determines how one becomes the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Two questions define the transformation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3840480" cy="21945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6B9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6B9EBF"/>
                </a:solidFill>
                <a:latin typeface="Calibri"/>
              </a:rPr>
              <a:t>What kind of signal?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3474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Continuous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a flowing value with magnitude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distance, angle, slider position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/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Binary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on or off, no in-between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contact, button press, toggle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103120"/>
            <a:ext cx="3840480" cy="21945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D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1945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D4A853"/>
                </a:solidFill>
                <a:latin typeface="Calibri"/>
              </a:rPr>
              <a:t>What kind of relationship?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743200"/>
            <a:ext cx="3474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Bound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output depends on input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when input changes, output follows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/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Unbound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output independent after trigger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input starts it, then it plays alone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THE 4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Signal × Relationship = four interactions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737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7373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UNBOUND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6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CONTINUOUS</a:t>
            </a:r>
          </a:p>
          <a:p>
            <a:pPr algn="r">
              <a:lnSpc>
                <a:spcPts val="16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56616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6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BINARY</a:t>
            </a:r>
          </a:p>
          <a:p>
            <a:pPr algn="r">
              <a:lnSpc>
                <a:spcPts val="16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194560"/>
            <a:ext cx="2743200" cy="109728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6B9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2860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B9EBF"/>
                </a:solidFill>
                <a:latin typeface="Calibri"/>
              </a:rPr>
              <a:t>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65176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B0B0B0"/>
                </a:solidFill>
                <a:latin typeface="Calibri"/>
              </a:rPr>
              <a:t>Proximity → Light intensity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194560"/>
            <a:ext cx="2926080" cy="1097280"/>
          </a:xfrm>
          <a:prstGeom prst="roundRect">
            <a:avLst/>
          </a:prstGeom>
          <a:solidFill>
            <a:srgbClr val="1A4A2A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228600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Threshold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6517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B0B0B0"/>
                </a:solidFill>
                <a:latin typeface="Calibri"/>
              </a:rPr>
              <a:t>Gaze duration hits 3s</a:t>
            </a:r>
          </a:p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B0B0B0"/>
                </a:solidFill>
                <a:latin typeface="Calibri"/>
              </a:rPr>
              <a:t>→ material dissolves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474720"/>
            <a:ext cx="2743200" cy="1097280"/>
          </a:xfrm>
          <a:prstGeom prst="roundRect">
            <a:avLst/>
          </a:prstGeom>
          <a:solidFill>
            <a:srgbClr val="4A3A1A"/>
          </a:solidFill>
          <a:ln w="1905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35661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93192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B0B0B0"/>
                </a:solidFill>
                <a:latin typeface="Calibri"/>
              </a:rPr>
              <a:t>Enter zone →</a:t>
            </a:r>
          </a:p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B0B0B0"/>
                </a:solidFill>
                <a:latin typeface="Calibri"/>
              </a:rPr>
              <a:t>Light ON / 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474720"/>
            <a:ext cx="2926080" cy="1097280"/>
          </a:xfrm>
          <a:prstGeom prst="roundRect">
            <a:avLst/>
          </a:prstGeom>
          <a:solidFill>
            <a:srgbClr val="5A1A1A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356616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One-Shot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93192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B0B0B0"/>
                </a:solidFill>
                <a:latin typeface="Calibri"/>
              </a:rPr>
              <a:t>Button press →</a:t>
            </a:r>
          </a:p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B0B0B0"/>
                </a:solidFill>
                <a:latin typeface="Calibri"/>
              </a:rPr>
              <a:t>play animation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TRACKING  ·  Continuous + Bound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Output follows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6B9EBF"/>
                </a:solidFill>
                <a:latin typeface="Calibri"/>
              </a:rPr>
              <a:t>Proximity → Light intensity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046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Walk closer, it brightens. Walk away, it dims.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The output is always coupled to the input.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Design tools: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Curve — the shape of the mapping (linear, eased, inverse)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Range — how much input it listens to, how much output it produces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Attack / Release — how fast it responds, how fast it fades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SWITCH  ·  Binary + Bound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Output transitions between two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39C12"/>
                </a:solidFill>
                <a:latin typeface="Calibri"/>
              </a:rPr>
              <a:t>Enter zone → Light ON /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046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Inside = ON. Outside = OFF.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The output is bound to the binary state.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Design tools: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Attack — how fast it turns on (instant snap vs. slow fade in)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Release — how fast it turns off (instant vs. lingering)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Asymmetry — fast on + slow off = the space remembers you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ONE-SHOT  ·  Binary + Unbound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Input triggers, output plays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Button press → play animation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046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You press the button. The animation plays.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It doesn’t matter if you keep pressing or walk away.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Design tools: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Curve — the response shape (burst, swell, snap + tail, overshoot)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Duration — how long the response plays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The curve IS the temporal behavior — attack/release are baked 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THRESHOLD TRIGGER  ·  Continuous + Unbound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Continuous input builds to a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7AE60"/>
                </a:solidFill>
                <a:latin typeface="Calibri"/>
              </a:rPr>
              <a:t>Gaze duration hits 3s → material dissolves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0467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Your gaze accumulates over time. You see the number climbing.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At 3 seconds, the response fires and plays independently.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Design tools: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Threshold — when does the continuous signal trigger? (distance, time, speed)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Curve — the response shape once triggered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B0B0B0"/>
                </a:solidFill>
                <a:latin typeface="Calibri"/>
              </a:rPr>
              <a:t>Duration — how long the response plays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THE SHAPE OF 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Three properties define how it feels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D4A853"/>
                </a:solidFill>
                <a:latin typeface="Calibri"/>
              </a:rPr>
              <a:t>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0"/>
            <a:ext cx="6400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The mapping shape. For bound: input value → output value.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For unbound: time → output value. Same tool, different meaning.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B9EBF"/>
                </a:solidFill>
                <a:latin typeface="Calibri"/>
              </a:rPr>
              <a:t>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6400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Input range: which part of the signal the curve listens to.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Output range: how much the output can change. Controls sensitivity.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0B0B0"/>
                </a:solidFill>
                <a:latin typeface="Calibri"/>
              </a:rPr>
              <a:t>ENVELOPE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840480"/>
            <a:ext cx="6400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Attack: how fast the output reaches its target.</a:t>
            </a:r>
          </a:p>
          <a:p>
            <a:pPr algn="l">
              <a:lnSpc>
                <a:spcPts val="1600"/>
              </a:lnSpc>
            </a:pPr>
            <a:r>
              <a:rPr sz="1100" b="0" i="0">
                <a:solidFill>
                  <a:srgbClr val="B0B0B0"/>
                </a:solidFill>
                <a:latin typeface="Calibri"/>
              </a:rPr>
              <a:t>Release: how fast it returns to rest. Together they set the feel.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CURVE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Mapping curves (Bound)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B0B0B0"/>
                </a:solidFill>
                <a:latin typeface="Calibri"/>
              </a:rPr>
              <a:t>Same input, same output — the curve changes how one becomes the other.</a:t>
            </a:r>
          </a:p>
        </p:txBody>
      </p:sp>
      <p:pic>
        <p:nvPicPr>
          <p:cNvPr id="5" name="Picture 4" descr="tmp1k7t8ml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0"/>
            <a:ext cx="8412480" cy="13118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CURVE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Response curves (Unbound)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B0B0B0"/>
                </a:solidFill>
                <a:latin typeface="Calibri"/>
              </a:rPr>
              <a:t>The curve IS the temporal behavior — it plays out over Duration.</a:t>
            </a:r>
          </a:p>
        </p:txBody>
      </p:sp>
      <p:pic>
        <p:nvPicPr>
          <p:cNvPr id="5" name="Picture 4" descr="tmpsa0vn67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0"/>
            <a:ext cx="8412480" cy="15705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ENVELOPE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Attack &amp;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Fast attack + Fast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Mechanical, crisp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8080"/>
                </a:solidFill>
                <a:latin typeface="Calibri"/>
              </a:rPr>
              <a:t>light 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Fast attack + Slow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651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Eager, lingering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8080"/>
                </a:solidFill>
                <a:latin typeface="Calibri"/>
              </a:rPr>
              <a:t>the space remembers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Slow attack + Fast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3832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Reluctant, crisp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8080"/>
                </a:solidFill>
                <a:latin typeface="Calibri"/>
              </a:rPr>
              <a:t>suspicious, then forgets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Slow attack + Slow release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1148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Atmospheric, dreamy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08080"/>
                </a:solidFill>
                <a:latin typeface="Calibri"/>
              </a:rPr>
              <a:t>weather changing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DESIGN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Same input, same output. Different curve.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0B0B0"/>
                </a:solidFill>
                <a:latin typeface="Calibri"/>
              </a:rPr>
              <a:t>All three: Proximity → Emission Intensity  (Tracking mode)</a:t>
            </a:r>
          </a:p>
        </p:txBody>
      </p:sp>
      <p:pic>
        <p:nvPicPr>
          <p:cNvPr id="5" name="Picture 4" descr="tmp39hg74l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94560"/>
            <a:ext cx="6400800" cy="19609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1">
                <a:solidFill>
                  <a:srgbClr val="D4A853"/>
                </a:solidFill>
                <a:latin typeface="Calibri"/>
              </a:rPr>
              <a:t>The curve is the personality of the interaction.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4A853"/>
                </a:solidFill>
                <a:latin typeface="Calibri"/>
              </a:rPr>
              <a:t>COUPLING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does the interaction feel?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8046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Use these pairs to describe and design. Not right/wrong — expressive choices.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500" b="1" i="0">
                <a:solidFill>
                  <a:srgbClr val="6B9EBF"/>
                </a:solidFill>
                <a:latin typeface="Calibri"/>
              </a:rPr>
              <a:t>Eager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450592"/>
            <a:ext cx="2286000" cy="36576"/>
          </a:xfrm>
          <a:prstGeom prst="round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286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Reluctant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attack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500" b="1" i="0">
                <a:solidFill>
                  <a:srgbClr val="6B9EBF"/>
                </a:solidFill>
                <a:latin typeface="Calibri"/>
              </a:rPr>
              <a:t>Crisp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953512"/>
            <a:ext cx="2286000" cy="36576"/>
          </a:xfrm>
          <a:prstGeom prst="round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7889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Lingering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7889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release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500" b="1" i="0">
                <a:solidFill>
                  <a:srgbClr val="6B9EBF"/>
                </a:solidFill>
                <a:latin typeface="Calibri"/>
              </a:rPr>
              <a:t>Attentive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456432"/>
            <a:ext cx="2286000" cy="36576"/>
          </a:xfrm>
          <a:prstGeom prst="round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32918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Indifferent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2918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proportionality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500" b="1" i="0">
                <a:solidFill>
                  <a:srgbClr val="6B9EBF"/>
                </a:solidFill>
                <a:latin typeface="Calibri"/>
              </a:rPr>
              <a:t>Precise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959352"/>
            <a:ext cx="2286000" cy="36576"/>
          </a:xfrm>
          <a:prstGeom prst="round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7947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Forgiving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947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range width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500" b="1" i="0">
                <a:solidFill>
                  <a:srgbClr val="6B9EBF"/>
                </a:solidFill>
                <a:latin typeface="Calibri"/>
              </a:rPr>
              <a:t>Alive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462272"/>
            <a:ext cx="2286000" cy="36576"/>
          </a:xfrm>
          <a:prstGeom prst="round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42976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Still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2976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oscillation / pulse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Every interaction is an atom.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Every atom has a transformation.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D4A853"/>
                </a:solidFill>
                <a:latin typeface="Calibri"/>
              </a:rPr>
              <a:t>The transformation is what you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