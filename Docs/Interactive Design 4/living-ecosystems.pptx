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713" y="2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800000"/>
            <a:ext cx="6400800" cy="2560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LIVING</a:t>
            </a:r>
          </a:p>
          <a:p>
            <a:r>
              <a:rPr sz="5200" b="1" i="0">
                <a:solidFill>
                  <a:srgbClr val="FFFFFF"/>
                </a:solidFill>
                <a:latin typeface="Calibri"/>
              </a:rPr>
              <a:t>ECOSYSTEMS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00000"/>
            <a:ext cx="4114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650000"/>
            <a:ext cx="5486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0" i="0">
                <a:solidFill>
                  <a:srgbClr val="B0B0B0"/>
                </a:solidFill>
                <a:latin typeface="Calibri"/>
              </a:rPr>
              <a:t>Lifecycle  ·  Behavior  ·  Interaction  ·  Emergence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400000"/>
            <a:ext cx="4572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808080"/>
                </a:solidFill>
                <a:latin typeface="Calibri"/>
              </a:rPr>
              <a:t>Interaction Design 4  ·  Lecture 02  ·  NABA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1200000"/>
            <a:ext cx="77724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What if your world</a:t>
            </a:r>
          </a:p>
          <a:p>
            <a:r>
              <a:rPr sz="4400" b="1" i="0">
                <a:solidFill>
                  <a:srgbClr val="FFFFFF"/>
                </a:solidFill>
                <a:latin typeface="Calibri"/>
              </a:rPr>
              <a:t>was already alive?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00000"/>
            <a:ext cx="32004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750000"/>
            <a:ext cx="685800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Not waiting for the participant. Not scripted.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A world that breathes, grows, hunts, and dies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ARTISTS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Calibri"/>
              </a:rPr>
              <a:t>Sommerer &amp;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Mignonneau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750000"/>
            <a:ext cx="73152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Pioneers of interactive artificial-life installations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Interactive Plant Growing</a:t>
            </a:r>
            <a:r>
              <a:rPr sz="1200" b="0" i="0">
                <a:solidFill>
                  <a:srgbClr val="808080"/>
                </a:solidFill>
                <a:latin typeface="Calibri"/>
              </a:rPr>
              <a:t>  (1993)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50000"/>
            <a:ext cx="36576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Touch real plants → digital organisms grow on screen.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One of the earliest works exploring artificial life in interactive 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5B8DB8"/>
                </a:solidFill>
                <a:latin typeface="Calibri"/>
              </a:rPr>
              <a:t>A-Volve</a:t>
            </a:r>
            <a:r>
              <a:rPr sz="1200" b="0" i="0">
                <a:solidFill>
                  <a:srgbClr val="808080"/>
                </a:solidFill>
                <a:latin typeface="Calibri"/>
              </a:rPr>
              <a:t>  (1994)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50000"/>
            <a:ext cx="365760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Visitors draw creatures on paper → scan → they swim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in a projected pool and compete for survival.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15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425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836D"/>
                </a:solidFill>
                <a:latin typeface="Calibri"/>
              </a:rPr>
              <a:t>Life Spacies</a:t>
            </a:r>
            <a:r>
              <a:rPr sz="1200" b="0" i="0">
                <a:solidFill>
                  <a:srgbClr val="808080"/>
                </a:solidFill>
                <a:latin typeface="Calibri"/>
              </a:rPr>
              <a:t>  (1997)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00000"/>
            <a:ext cx="36576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People create digital creatures through gestures.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Key mechanics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6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A8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Movement &amp; energy consumption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95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A8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Survival competition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A8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Organism interaction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365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A84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User input drives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ARTISTS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00000"/>
            <a:ext cx="3840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Haru Ji &amp; Graham Wakefield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0000"/>
            <a:ext cx="38404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5B8DB8"/>
                </a:solidFill>
                <a:latin typeface="Calibri"/>
              </a:rPr>
              <a:t>Artificial Nature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00000"/>
            <a:ext cx="3840480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Immersive mixed-reality installations simulating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complex biological ecosystems.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B0B0B0"/>
                </a:solidFill>
                <a:latin typeface="Calibri"/>
              </a:rPr>
              <a:t>•  Decentralized agents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Emergent spatial patterns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Evolving population dynamics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GPU particle / agent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100000"/>
            <a:ext cx="27432" cy="350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0" y="1100000"/>
            <a:ext cx="384048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Jon McCormack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550000"/>
            <a:ext cx="38404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836D"/>
                </a:solidFill>
                <a:latin typeface="Calibri"/>
              </a:rPr>
              <a:t>Eden</a:t>
            </a:r>
            <a:r>
              <a:rPr sz="1200" b="0" i="0">
                <a:solidFill>
                  <a:srgbClr val="808080"/>
                </a:solidFill>
                <a:latin typeface="Calibri"/>
              </a:rPr>
              <a:t>  (2001–2004)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800000"/>
            <a:ext cx="3840480" cy="7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Virtual organisms compete for energy.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Creatures evolve visually and behaviorally.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Energy flows through a food-chain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600000"/>
            <a:ext cx="384048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836D"/>
                </a:solidFill>
                <a:latin typeface="Calibri"/>
              </a:rPr>
              <a:t>Turbulence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850000"/>
            <a:ext cx="3840480" cy="7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Artificial organisms grow and mutate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inside a virtual ecological world.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0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900000"/>
            <a:ext cx="7772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Common thread: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 energy metabolism  ·  reproduction &amp; mutation  ·  predator–prey  ·  environmental competition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00000"/>
            <a:ext cx="7772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808080"/>
                </a:solidFill>
                <a:latin typeface="Calibri"/>
              </a:rPr>
              <a:t>These artists don’t animate worlds. They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grow</a:t>
            </a:r>
            <a:r>
              <a:rPr sz="1300" b="0" i="0">
                <a:solidFill>
                  <a:srgbClr val="808080"/>
                </a:solidFill>
                <a:latin typeface="Calibri"/>
              </a:rPr>
              <a:t>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1200000"/>
            <a:ext cx="7772400" cy="1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What makes a world </a:t>
            </a:r>
            <a:r>
              <a:rPr sz="4400" b="1" i="0">
                <a:solidFill>
                  <a:srgbClr val="D4A843"/>
                </a:solidFill>
                <a:latin typeface="Calibri"/>
              </a:rPr>
              <a:t>alive</a:t>
            </a:r>
            <a:r>
              <a:rPr sz="44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00000"/>
            <a:ext cx="32004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100000"/>
            <a:ext cx="7315200" cy="1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Entities that are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born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, that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behave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, and that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die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Entities that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interact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 with each other.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B0B0B0"/>
                </a:solidFill>
                <a:latin typeface="Calibri"/>
              </a:rPr>
              <a:t>We will build this step by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Four phases to a living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0000"/>
            <a:ext cx="18288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00000"/>
            <a:ext cx="1828800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2130000"/>
            <a:ext cx="914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D4A843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550000"/>
            <a:ext cx="1428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Lifecycle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950000"/>
            <a:ext cx="1428800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Birth and death.</a:t>
            </a:r>
          </a:p>
          <a:p>
            <a:r>
              <a:rPr sz="1200" b="0" i="0">
                <a:solidFill>
                  <a:srgbClr val="B0B0B0"/>
                </a:solidFill>
                <a:latin typeface="Calibri"/>
              </a:rPr>
              <a:t>Time or energy as</a:t>
            </a:r>
          </a:p>
          <a:p>
            <a:r>
              <a:rPr sz="1200" b="0" i="0">
                <a:solidFill>
                  <a:srgbClr val="B0B0B0"/>
                </a:solidFill>
                <a:latin typeface="Calibri"/>
              </a:rPr>
              <a:t>the clock of life.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900000"/>
            <a:ext cx="18288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88920" y="1900000"/>
            <a:ext cx="1828800" cy="54864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17520" y="2130000"/>
            <a:ext cx="914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5B8DB8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550000"/>
            <a:ext cx="1428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Behavior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950000"/>
            <a:ext cx="1428800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Growth, movement,</a:t>
            </a:r>
          </a:p>
          <a:p>
            <a:r>
              <a:rPr sz="1200" b="0" i="0">
                <a:solidFill>
                  <a:srgbClr val="B0B0B0"/>
                </a:solidFill>
                <a:latin typeface="Calibri"/>
              </a:rPr>
              <a:t>visual change.</a:t>
            </a:r>
          </a:p>
          <a:p>
            <a:r>
              <a:rPr sz="1200" b="0" i="0">
                <a:solidFill>
                  <a:srgbClr val="B0B0B0"/>
                </a:solidFill>
                <a:latin typeface="Calibri"/>
              </a:rPr>
              <a:t>The entity 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900000"/>
            <a:ext cx="18288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0" y="1900000"/>
            <a:ext cx="1828800" cy="54864"/>
          </a:xfrm>
          <a:prstGeom prst="rect">
            <a:avLst/>
          </a:prstGeom>
          <a:solidFill>
            <a:srgbClr val="D4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74920" y="2130000"/>
            <a:ext cx="914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D4836D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550000"/>
            <a:ext cx="1428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Reproducti</a:t>
            </a:r>
            <a:r>
              <a:rPr lang="en-US" sz="2000" b="1" i="0">
                <a:solidFill>
                  <a:srgbClr val="FFFFFF"/>
                </a:solidFill>
                <a:latin typeface="Calibri"/>
              </a:rPr>
              <a:t>o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n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74920" y="2950000"/>
            <a:ext cx="1428800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Spawning offspring.</a:t>
            </a:r>
          </a:p>
          <a:p>
            <a:r>
              <a:rPr sz="1200" b="0" i="0">
                <a:solidFill>
                  <a:srgbClr val="B0B0B0"/>
                </a:solidFill>
                <a:latin typeface="Calibri"/>
              </a:rPr>
              <a:t>The population</a:t>
            </a:r>
          </a:p>
          <a:p>
            <a:r>
              <a:rPr sz="1200" b="0" i="0">
                <a:solidFill>
                  <a:srgbClr val="B0B0B0"/>
                </a:solidFill>
                <a:latin typeface="Calibri"/>
              </a:rPr>
              <a:t>sustains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1900000"/>
            <a:ext cx="1828800" cy="2560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03720" y="1900000"/>
            <a:ext cx="1828800" cy="54864"/>
          </a:xfrm>
          <a:prstGeom prst="rect">
            <a:avLst/>
          </a:prstGeom>
          <a:solidFill>
            <a:srgbClr val="6B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0" y="2130000"/>
            <a:ext cx="9144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6BB36B"/>
                </a:solidFill>
                <a:latin typeface="Calibri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2550000"/>
            <a:ext cx="1428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Interaction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950000"/>
            <a:ext cx="1428800" cy="12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 dirty="0">
                <a:solidFill>
                  <a:srgbClr val="B0B0B0"/>
                </a:solidFill>
                <a:latin typeface="Calibri"/>
              </a:rPr>
              <a:t>Sensing, seeking,</a:t>
            </a:r>
          </a:p>
          <a:p>
            <a:r>
              <a:rPr sz="1200" b="0" i="0" dirty="0">
                <a:solidFill>
                  <a:srgbClr val="B0B0B0"/>
                </a:solidFill>
                <a:latin typeface="Calibri"/>
              </a:rPr>
              <a:t>consuming. Entities</a:t>
            </a:r>
          </a:p>
          <a:p>
            <a:r>
              <a:rPr sz="1200" b="0" i="0" dirty="0">
                <a:solidFill>
                  <a:srgbClr val="B0B0B0"/>
                </a:solidFill>
                <a:latin typeface="Calibri"/>
              </a:rPr>
              <a:t>affect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PHASE 1  · 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45720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The simplest life:</a:t>
            </a:r>
          </a:p>
          <a:p>
            <a:r>
              <a:rPr sz="2800" b="1" i="0">
                <a:solidFill>
                  <a:srgbClr val="D4A843"/>
                </a:solidFill>
                <a:latin typeface="Calibri"/>
              </a:rPr>
              <a:t>a timer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0000"/>
            <a:ext cx="4572000" cy="25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An entity is created.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A countdown begins.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When the timer reaches zero, the entity is destroyed.</a:t>
            </a:r>
          </a:p>
          <a:p>
            <a:pPr>
              <a:spcBef>
                <a:spcPts val="1200"/>
              </a:spcBef>
            </a:pPr>
            <a:r>
              <a:rPr sz="1500" b="0" i="0">
                <a:solidFill>
                  <a:srgbClr val="B0B0B0"/>
                </a:solidFill>
                <a:latin typeface="Calibri"/>
              </a:rPr>
              <a:t>This is the most basic lifecycle:</a:t>
            </a:r>
          </a:p>
          <a:p>
            <a:r>
              <a:rPr sz="1800" b="1" i="0">
                <a:solidFill>
                  <a:srgbClr val="FFFFFF"/>
                </a:solidFill>
                <a:latin typeface="Calibri"/>
              </a:rPr>
              <a:t>spawn → exist → die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5B8DB8"/>
                </a:solidFill>
                <a:latin typeface="Calibri"/>
              </a:rPr>
              <a:t>Implementation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Spawn an entity (Instantiate)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Track elapsed time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Destroy when lifespan expires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500000"/>
            <a:ext cx="3657600" cy="3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6BB36B"/>
                </a:solidFill>
                <a:latin typeface="Calibri"/>
              </a:rPr>
              <a:t>BIRTH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400" b="0" i="0">
                <a:solidFill>
                  <a:srgbClr val="B0B0B0"/>
                </a:solidFill>
                <a:latin typeface="Calibri"/>
              </a:rPr>
              <a:t>  |  time passes...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v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D4836D"/>
                </a:solidFill>
                <a:latin typeface="Calibri"/>
              </a:rPr>
              <a:t>DEATH</a:t>
            </a:r>
          </a:p>
          <a:p>
            <a:pPr>
              <a:spcBef>
                <a:spcPts val="2000"/>
              </a:spcBef>
            </a:pPr>
            <a:r>
              <a:rPr sz="1300" b="0" i="0">
                <a:solidFill>
                  <a:srgbClr val="808080"/>
                </a:solidFill>
                <a:latin typeface="Calibri"/>
              </a:rPr>
              <a:t>Fixed duration. Predictable.</a:t>
            </a:r>
          </a:p>
          <a:p>
            <a:r>
              <a:rPr sz="1300" b="0" i="0">
                <a:solidFill>
                  <a:srgbClr val="808080"/>
                </a:solidFill>
                <a:latin typeface="Calibri"/>
              </a:rPr>
              <a:t>The entity has no control over its fate.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PHASE 1  · 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45720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 richer life:</a:t>
            </a:r>
          </a:p>
          <a:p>
            <a:r>
              <a:rPr sz="2800" b="1" i="0">
                <a:solidFill>
                  <a:srgbClr val="D4A843"/>
                </a:solidFill>
                <a:latin typeface="Calibri"/>
              </a:rPr>
              <a:t>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0000"/>
            <a:ext cx="4572000" cy="2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Instead of a fixed timer, the entity has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energy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B0B0B0"/>
                </a:solidFill>
                <a:latin typeface="Calibri"/>
              </a:rPr>
              <a:t>Energy depletes over time (metabolism).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Energy can be </a:t>
            </a:r>
            <a:r>
              <a:rPr sz="1500" b="1" i="0">
                <a:solidFill>
                  <a:srgbClr val="6BB36B"/>
                </a:solidFill>
                <a:latin typeface="Calibri"/>
              </a:rPr>
              <a:t>gained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 (eating, sunlight).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When energy reaches zero → death.</a:t>
            </a:r>
          </a:p>
          <a:p>
            <a:pPr>
              <a:spcBef>
                <a:spcPts val="120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Now the entity’s fate depends on what happens to it.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5B8DB8"/>
                </a:solidFill>
                <a:latin typeface="Calibri"/>
              </a:rPr>
              <a:t>Implementation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float energy, drains each frame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external events can add energy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energy &lt;= 0 → Destroy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500000"/>
            <a:ext cx="3657600" cy="3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6BB36B"/>
                </a:solidFill>
                <a:latin typeface="Calibri"/>
              </a:rPr>
              <a:t>BIRTH</a:t>
            </a:r>
            <a:r>
              <a:rPr sz="1300" b="0" i="0">
                <a:solidFill>
                  <a:srgbClr val="808080"/>
                </a:solidFill>
                <a:latin typeface="Calibri"/>
              </a:rPr>
              <a:t>  (energy = 100)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300" b="0" i="0">
                <a:solidFill>
                  <a:srgbClr val="D4836D"/>
                </a:solidFill>
                <a:latin typeface="Calibri"/>
              </a:rPr>
              <a:t>  |  -1 per second (metabolism)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300" b="0" i="0">
                <a:solidFill>
                  <a:srgbClr val="6BB36B"/>
                </a:solidFill>
                <a:latin typeface="Calibri"/>
              </a:rPr>
              <a:t>  +-- +30 (ate food)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300" b="0" i="0">
                <a:solidFill>
                  <a:srgbClr val="D4836D"/>
                </a:solidFill>
                <a:latin typeface="Calibri"/>
              </a:rPr>
              <a:t>  +-- -20 (got attacked)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v</a:t>
            </a:r>
          </a:p>
          <a:p>
            <a:pPr>
              <a:spcBef>
                <a:spcPts val="800"/>
              </a:spcBef>
            </a:pPr>
            <a:r>
              <a:rPr sz="1600" b="1" i="0">
                <a:solidFill>
                  <a:srgbClr val="D4836D"/>
                </a:solidFill>
                <a:latin typeface="Calibri"/>
              </a:rPr>
              <a:t>DEATH</a:t>
            </a:r>
            <a:r>
              <a:rPr sz="1300" b="0" i="0">
                <a:solidFill>
                  <a:srgbClr val="808080"/>
                </a:solidFill>
                <a:latin typeface="Calibri"/>
              </a:rPr>
              <a:t>  (energy = 0)</a:t>
            </a:r>
          </a:p>
          <a:p>
            <a:pPr>
              <a:spcBef>
                <a:spcPts val="1600"/>
              </a:spcBef>
            </a:pPr>
            <a:r>
              <a:rPr sz="1300" b="0" i="0">
                <a:solidFill>
                  <a:srgbClr val="808080"/>
                </a:solidFill>
                <a:latin typeface="Calibri"/>
              </a:rPr>
              <a:t>Variable lifespan. Unpredictable.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5B8DB8"/>
                </a:solidFill>
                <a:latin typeface="Calibri"/>
              </a:rPr>
              <a:t>PHASE 2  · 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The entity </a:t>
            </a:r>
            <a:r>
              <a:rPr sz="2800" b="1" i="0">
                <a:solidFill>
                  <a:srgbClr val="5B8DB8"/>
                </a:solidFill>
                <a:latin typeface="Calibri"/>
              </a:rPr>
              <a:t>does something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0000"/>
            <a:ext cx="7315200" cy="2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A lifecycle alone is invisible. The entity needs to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show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 that it’s alive.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FFFFFF"/>
                </a:solidFill>
                <a:latin typeface="Calibri"/>
              </a:rPr>
              <a:t>Behavior = something that changes over time as a function of state.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D4A843"/>
                </a:solidFill>
                <a:latin typeface="Calibri"/>
              </a:rPr>
              <a:t>Growth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 —  scale increases over time, maybe tied to energy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D4A843"/>
                </a:solidFill>
                <a:latin typeface="Calibri"/>
              </a:rPr>
              <a:t>Color shift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 —  hue/saturation changes with age or energy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D4A843"/>
                </a:solidFill>
                <a:latin typeface="Calibri"/>
              </a:rPr>
              <a:t>Movement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 —  wander, drift, pulse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D4A843"/>
                </a:solidFill>
                <a:latin typeface="Calibri"/>
              </a:rPr>
              <a:t>Decay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 —  shrink, fade, wilt when energy is low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B0B0B0"/>
                </a:solidFill>
                <a:latin typeface="Calibri"/>
              </a:rPr>
              <a:t>The visual feedback makes the lifecycle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legible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5B8DB8"/>
                </a:solidFill>
                <a:latin typeface="Calibri"/>
              </a:rPr>
              <a:t>PHASE 2  · 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Designing life forms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50000"/>
            <a:ext cx="137160" cy="137160"/>
          </a:xfrm>
          <a:prstGeom prst="ellipse">
            <a:avLst/>
          </a:prstGeom>
          <a:solidFill>
            <a:srgbClr val="6B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810000"/>
            <a:ext cx="2286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Flora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20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Stationary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48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Grows slowly over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76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Absorbs energy from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04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Visual: scale up, color bloom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32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No movement</a:t>
            </a:r>
          </a:p>
        </p:txBody>
      </p:sp>
      <p:sp>
        <p:nvSpPr>
          <p:cNvPr id="14" name="Oval 13"/>
          <p:cNvSpPr/>
          <p:nvPr/>
        </p:nvSpPr>
        <p:spPr>
          <a:xfrm>
            <a:off x="3474720" y="1850000"/>
            <a:ext cx="137160" cy="137160"/>
          </a:xfrm>
          <a:prstGeom prst="ellipse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03320" y="1810000"/>
            <a:ext cx="2286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Herbivore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20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Mobile — wanders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48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Burns energy to move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276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Seeks flora to consume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04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Visual: moves, size = energy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332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Medium speed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1850000"/>
            <a:ext cx="137160" cy="137160"/>
          </a:xfrm>
          <a:prstGeom prst="ellipse">
            <a:avLst/>
          </a:prstGeom>
          <a:solidFill>
            <a:srgbClr val="D4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46520" y="1810000"/>
            <a:ext cx="2286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Carnivore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20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Mobile — hunts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48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High energy cost to move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76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Seeks herbivores to consume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4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Visual: larger, slower, menacing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320000"/>
            <a:ext cx="24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 i="0">
                <a:solidFill>
                  <a:srgbClr val="B0B0B0"/>
                </a:solidFill>
                <a:latin typeface="Calibri"/>
              </a:rPr>
              <a:t>•  Fewer in number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00000"/>
            <a:ext cx="7315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808080"/>
                </a:solidFill>
                <a:latin typeface="Calibri"/>
              </a:rPr>
              <a:t>Same lifecycle system, different parameters → different creatures.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836D"/>
                </a:solidFill>
                <a:latin typeface="Calibri"/>
              </a:rPr>
              <a:t>PHASE 3  ·  REPRODUCTION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Spawning new life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00000"/>
            <a:ext cx="4572000" cy="2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Without reproduction, the world depletes and dies.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Reproduction lets the population sustain itself.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D4836D"/>
                </a:solidFill>
                <a:latin typeface="Calibri"/>
              </a:rPr>
              <a:t>Conditions for reproduction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Energy above threshold (e.g. energy &gt; 80)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Cooldown timer (can’t reproduce every frame)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Cost: parent loses energy to create child</a:t>
            </a:r>
          </a:p>
          <a:p>
            <a:pPr>
              <a:spcBef>
                <a:spcPts val="1400"/>
              </a:spcBef>
            </a:pPr>
            <a:r>
              <a:rPr sz="1400" b="1" i="0">
                <a:solidFill>
                  <a:srgbClr val="5B8DB8"/>
                </a:solidFill>
                <a:latin typeface="Calibri"/>
              </a:rPr>
              <a:t>Implementation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Check energy &gt; threshold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Instantiate child nearby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Subtract reproduction cost from parent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•  Start cooldown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800000"/>
            <a:ext cx="3657600" cy="3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Parent</a:t>
            </a:r>
            <a:r>
              <a:rPr sz="1300" b="0" i="0">
                <a:solidFill>
                  <a:srgbClr val="6BB36B"/>
                </a:solidFill>
                <a:latin typeface="Calibri"/>
              </a:rPr>
              <a:t>  (energy = 90)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300" b="0" i="0">
                <a:solidFill>
                  <a:srgbClr val="6BB36B"/>
                </a:solidFill>
                <a:latin typeface="Calibri"/>
              </a:rPr>
              <a:t>  |  energy &gt; 80?  YES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|</a:t>
            </a:r>
          </a:p>
          <a:p>
            <a:r>
              <a:rPr sz="1300" b="0" i="0">
                <a:solidFill>
                  <a:srgbClr val="D4836D"/>
                </a:solidFill>
                <a:latin typeface="Calibri"/>
              </a:rPr>
              <a:t>  +--------+--------+</a:t>
            </a:r>
          </a:p>
          <a:p>
            <a:r>
              <a:rPr sz="1300" b="0" i="0">
                <a:solidFill>
                  <a:srgbClr val="808080"/>
                </a:solidFill>
                <a:latin typeface="Calibri"/>
              </a:rPr>
              <a:t>  |                 |</a:t>
            </a:r>
          </a:p>
          <a:p>
            <a:r>
              <a:rPr sz="1300" b="0" i="0">
                <a:solidFill>
                  <a:srgbClr val="808080"/>
                </a:solidFill>
                <a:latin typeface="Calibri"/>
              </a:rPr>
              <a:t>  v                 v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Parent</a:t>
            </a:r>
            <a:r>
              <a:rPr sz="1300" b="0" i="0">
                <a:solidFill>
                  <a:srgbClr val="D4836D"/>
                </a:solidFill>
                <a:latin typeface="Calibri"/>
              </a:rPr>
              <a:t> (50)  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Child</a:t>
            </a:r>
            <a:r>
              <a:rPr sz="1300" b="0" i="0">
                <a:solidFill>
                  <a:srgbClr val="6BB36B"/>
                </a:solidFill>
                <a:latin typeface="Calibri"/>
              </a:rPr>
              <a:t> (40)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836D"/>
                </a:solidFill>
                <a:latin typeface="Calibri"/>
              </a:rPr>
              <a:t>PHASE 3  ·  REPRODUCTION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Different reproduction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6BB36B"/>
                </a:solidFill>
                <a:latin typeface="Calibri"/>
              </a:rPr>
              <a:t>Flora — seeding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00000"/>
            <a:ext cx="3657600" cy="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Spreads seeds at intervals within a radius.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No movement required. Density-dependent.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Can check: are there too many plants nearby?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5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15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5B8DB8"/>
                </a:solidFill>
                <a:latin typeface="Calibri"/>
              </a:rPr>
              <a:t>Herbivore — budding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50000"/>
            <a:ext cx="3657600" cy="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When well-fed (energy &gt; threshold), spawns a copy.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Shares energy with offspring.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836D"/>
                </a:solidFill>
                <a:latin typeface="Calibri"/>
              </a:rPr>
              <a:t>Carnivore — rare reproduction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00000"/>
            <a:ext cx="36576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Higher threshold, longer cooldown, fewer offspring.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900000"/>
            <a:ext cx="3657600" cy="2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Population balance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B0B0B0"/>
                </a:solidFill>
                <a:latin typeface="Calibri"/>
              </a:rPr>
              <a:t>Reproduction rates determine the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ecosystem’s stability.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D4836D"/>
                </a:solidFill>
                <a:latin typeface="Calibri"/>
              </a:rPr>
              <a:t>Too fast → explosion, then crash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D4836D"/>
                </a:solidFill>
                <a:latin typeface="Calibri"/>
              </a:rPr>
              <a:t>Too slow → extinction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6BB36B"/>
                </a:solidFill>
                <a:latin typeface="Calibri"/>
              </a:rPr>
              <a:t>Just right → oscillation</a:t>
            </a:r>
          </a:p>
          <a:p>
            <a:pPr>
              <a:spcBef>
                <a:spcPts val="1600"/>
              </a:spcBef>
            </a:pPr>
            <a:r>
              <a:rPr sz="1400" b="0" i="1">
                <a:solidFill>
                  <a:srgbClr val="FFFFFF"/>
                </a:solidFill>
                <a:latin typeface="Calibri"/>
              </a:rPr>
              <a:t>This is where tuning becomes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6BB36B"/>
                </a:solidFill>
                <a:latin typeface="Calibri"/>
              </a:rPr>
              <a:t>PHASE 4  · 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6B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Sensing the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00000"/>
            <a:ext cx="4572000" cy="2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Before entities can interact, they need to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perceive</a:t>
            </a:r>
            <a:r>
              <a:rPr sz="1500" b="0" i="0">
                <a:solidFill>
                  <a:srgbClr val="B0B0B0"/>
                </a:solidFill>
                <a:latin typeface="Calibri"/>
              </a:rPr>
              <a:t>.</a:t>
            </a:r>
          </a:p>
          <a:p>
            <a:pPr>
              <a:spcBef>
                <a:spcPts val="1400"/>
              </a:spcBef>
            </a:pPr>
            <a:r>
              <a:rPr sz="1600" b="1" i="0">
                <a:solidFill>
                  <a:srgbClr val="6BB36B"/>
                </a:solidFill>
                <a:latin typeface="Calibri"/>
              </a:rPr>
              <a:t>Detection methods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6BB36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Radius check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— distance to all entities of type X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B36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Trigger collider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— a "sense sphere" around the entity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6BB36B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Raycast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 — directional vision cone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B0B0B0"/>
                </a:solidFill>
                <a:latin typeface="Calibri"/>
              </a:rPr>
              <a:t>Once detected →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steering behavior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Seek, flee, wander, arrive.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800000"/>
            <a:ext cx="3657600" cy="30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Sense → Decide → Act</a:t>
            </a:r>
          </a:p>
          <a:p>
            <a:pPr>
              <a:spcBef>
                <a:spcPts val="1600"/>
              </a:spcBef>
            </a:pPr>
            <a:r>
              <a:rPr sz="1400" b="1" i="0">
                <a:solidFill>
                  <a:srgbClr val="5B8DB8"/>
                </a:solidFill>
                <a:latin typeface="Calibri"/>
              </a:rPr>
              <a:t>Herbivore senses:</a:t>
            </a:r>
          </a:p>
          <a:p>
            <a:r>
              <a:rPr sz="1300" b="0" i="0">
                <a:solidFill>
                  <a:srgbClr val="6BB36B"/>
                </a:solidFill>
                <a:latin typeface="Calibri"/>
              </a:rPr>
              <a:t>  Flora nearby?  →  move toward it</a:t>
            </a:r>
          </a:p>
          <a:p>
            <a:r>
              <a:rPr sz="1300" b="0" i="0">
                <a:solidFill>
                  <a:srgbClr val="D4836D"/>
                </a:solidFill>
                <a:latin typeface="Calibri"/>
              </a:rPr>
              <a:t>  Carnivore nearby?  →  flee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  Nothing?  →  wander</a:t>
            </a:r>
          </a:p>
          <a:p>
            <a:pPr>
              <a:spcBef>
                <a:spcPts val="1600"/>
              </a:spcBef>
            </a:pPr>
            <a:r>
              <a:rPr sz="1400" b="1" i="0">
                <a:solidFill>
                  <a:srgbClr val="D4836D"/>
                </a:solidFill>
                <a:latin typeface="Calibri"/>
              </a:rPr>
              <a:t>Carnivore senses:</a:t>
            </a:r>
          </a:p>
          <a:p>
            <a:r>
              <a:rPr sz="1300" b="0" i="0">
                <a:solidFill>
                  <a:srgbClr val="5B8DB8"/>
                </a:solidFill>
                <a:latin typeface="Calibri"/>
              </a:rPr>
              <a:t>  Herbivore nearby?  →  chase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  Nothing?  →  patrol</a:t>
            </a:r>
          </a:p>
          <a:p>
            <a:pPr>
              <a:spcBef>
                <a:spcPts val="1600"/>
              </a:spcBef>
            </a:pPr>
            <a:r>
              <a:rPr sz="1400" b="1" i="0">
                <a:solidFill>
                  <a:srgbClr val="6BB36B"/>
                </a:solidFill>
                <a:latin typeface="Calibri"/>
              </a:rPr>
              <a:t>Flora senses:</a:t>
            </a:r>
          </a:p>
          <a:p>
            <a:r>
              <a:rPr sz="1300" b="0" i="0">
                <a:solidFill>
                  <a:srgbClr val="808080"/>
                </a:solidFill>
                <a:latin typeface="Calibri"/>
              </a:rPr>
              <a:t>  Nothing. It’s a plant.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6BB36B"/>
                </a:solidFill>
                <a:latin typeface="Calibri"/>
              </a:rPr>
              <a:t>PHASE 4  · 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6B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Consuming &amp; energy transfer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00000"/>
            <a:ext cx="7315200" cy="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When an entity reaches its target, something happens.</a:t>
            </a:r>
          </a:p>
          <a:p>
            <a:r>
              <a:rPr sz="1500" b="0" i="0">
                <a:solidFill>
                  <a:srgbClr val="B0B0B0"/>
                </a:solidFill>
                <a:latin typeface="Calibri"/>
              </a:rPr>
              <a:t>Energy flows from prey to predator. The eaten entity dies.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00000"/>
            <a:ext cx="7315200" cy="18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A843"/>
                </a:solidFill>
                <a:latin typeface="Calibri"/>
              </a:rPr>
              <a:t>Sun / Environment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     |  energy</a:t>
            </a:r>
          </a:p>
          <a:p>
            <a:r>
              <a:rPr sz="1400" b="0" i="0">
                <a:solidFill>
                  <a:srgbClr val="808080"/>
                </a:solidFill>
                <a:latin typeface="Calibri"/>
              </a:rPr>
              <a:t>       v</a:t>
            </a:r>
          </a:p>
          <a:p>
            <a:r>
              <a:rPr sz="1600" b="1" i="0">
                <a:solidFill>
                  <a:srgbClr val="6BB36B"/>
                </a:solidFill>
                <a:latin typeface="Calibri"/>
              </a:rPr>
              <a:t>    Flora</a:t>
            </a:r>
            <a:r>
              <a:rPr sz="1400" b="0" i="0">
                <a:solidFill>
                  <a:srgbClr val="808080"/>
                </a:solidFill>
                <a:latin typeface="Calibri"/>
              </a:rPr>
              <a:t>  ---consumed by---&gt;  </a:t>
            </a:r>
            <a:r>
              <a:rPr sz="1600" b="1" i="0">
                <a:solidFill>
                  <a:srgbClr val="5B8DB8"/>
                </a:solidFill>
                <a:latin typeface="Calibri"/>
              </a:rPr>
              <a:t>Herbivore</a:t>
            </a:r>
            <a:r>
              <a:rPr sz="1400" b="0" i="0">
                <a:solidFill>
                  <a:srgbClr val="808080"/>
                </a:solidFill>
                <a:latin typeface="Calibri"/>
              </a:rPr>
              <a:t>  ---consumed by---&gt;  </a:t>
            </a:r>
            <a:r>
              <a:rPr sz="1600" b="1" i="0">
                <a:solidFill>
                  <a:srgbClr val="D4836D"/>
                </a:solidFill>
                <a:latin typeface="Calibri"/>
              </a:rPr>
              <a:t>Carnivore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 contact (collision):</a:t>
            </a:r>
          </a:p>
          <a:p>
            <a:r>
              <a:rPr sz="1300" b="0" i="0">
                <a:solidFill>
                  <a:srgbClr val="B0B0B0"/>
                </a:solidFill>
                <a:latin typeface="Calibri"/>
              </a:rPr>
              <a:t>  predator.energy += prey.energy  |  Destroy(prey)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00000"/>
            <a:ext cx="7315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808080"/>
                </a:solidFill>
                <a:latin typeface="Calibri"/>
              </a:rPr>
              <a:t>Energy is conserved. It flows through the food chain, never created from nothing.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THE FULL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Trophic cascade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50000"/>
            <a:ext cx="7315200" cy="400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Remove the top predator. Watch the whole system collapse.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00000"/>
            <a:ext cx="7315200" cy="5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300000"/>
            <a:ext cx="54864" cy="500000"/>
          </a:xfrm>
          <a:prstGeom prst="rect">
            <a:avLst/>
          </a:prstGeom>
          <a:solidFill>
            <a:srgbClr val="D4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1520" y="2350000"/>
            <a:ext cx="20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Apex predator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520" y="2580000"/>
            <a:ext cx="7015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B0B0B0"/>
                </a:solidFill>
                <a:latin typeface="Calibri"/>
              </a:rPr>
              <a:t>Rare. Regulates carnivores or herbivores. If removed → herbivore explosion → flora collapse.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50000"/>
            <a:ext cx="5943600" cy="5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950000"/>
            <a:ext cx="54864" cy="500000"/>
          </a:xfrm>
          <a:prstGeom prst="rect">
            <a:avLst/>
          </a:prstGeom>
          <a:solidFill>
            <a:srgbClr val="D48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1520" y="3000000"/>
            <a:ext cx="20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Carnivore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1520" y="3230000"/>
            <a:ext cx="5643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B0B0B0"/>
                </a:solidFill>
                <a:latin typeface="Calibri"/>
              </a:rPr>
              <a:t>Hunts herbivores. Controls herbivore population. If too many → herbivores go extinct.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00000"/>
            <a:ext cx="4572000" cy="5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00000"/>
            <a:ext cx="54864" cy="500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1520" y="3650000"/>
            <a:ext cx="20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Herbivore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1520" y="3880000"/>
            <a:ext cx="42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B0B0B0"/>
                </a:solidFill>
                <a:latin typeface="Calibri"/>
              </a:rPr>
              <a:t>Eats flora. Reproduces when fed. If unchecked → overgrazes → flora disappears.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0000"/>
            <a:ext cx="3200400" cy="500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250000"/>
            <a:ext cx="54864" cy="500000"/>
          </a:xfrm>
          <a:prstGeom prst="rect">
            <a:avLst/>
          </a:prstGeom>
          <a:solidFill>
            <a:srgbClr val="6B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1520" y="4300000"/>
            <a:ext cx="2000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Flora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1520" y="4530000"/>
            <a:ext cx="2900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 i="0">
                <a:solidFill>
                  <a:srgbClr val="B0B0B0"/>
                </a:solidFill>
                <a:latin typeface="Calibri"/>
              </a:rPr>
              <a:t>Base of the food chain. Absorbs environmental energy. If depleted → everything above collapses.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THE FULL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Cascade dynamics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00000"/>
            <a:ext cx="3657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5B8DB8"/>
                </a:solidFill>
                <a:latin typeface="Calibri"/>
              </a:rPr>
              <a:t>What you set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5B8DB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Entity types (flora, herbivore, carnivore, apex)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8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5B8DB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Energy parameters per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6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5B8DB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Reproduction thresholds &amp; costs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4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5B8DB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Sensing ranges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2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5B8DB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Movement speeds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5B8DB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Initial population 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900000"/>
            <a:ext cx="27432" cy="2800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46320" y="1900000"/>
            <a:ext cx="36576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836D"/>
                </a:solidFill>
                <a:latin typeface="Calibri"/>
              </a:rPr>
              <a:t>What emerges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836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Population waves and crashes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58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836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Predator–prey oscillation cycles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86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836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Territorial clustering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14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836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Extinction events &amp;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836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Strategies you never scripted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700000"/>
            <a:ext cx="3657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D4836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B0B0B0"/>
                </a:solidFill>
                <a:latin typeface="Calibri"/>
              </a:rPr>
              <a:t>Moments of unexpected beauty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00000"/>
            <a:ext cx="7315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You author the rules. The world writes its own story.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DESIGN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The parameters that shape your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5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00000"/>
            <a:ext cx="2743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Metabolism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90000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How fast energy drains. High = frantic. Low = serene.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330000"/>
            <a:ext cx="2743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Reproduction threshold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33000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When entities can reproduce. Determines population growth.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1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60000"/>
            <a:ext cx="2743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Reproduction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76000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Energy spent to create offspring. High = fewer but stronger.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14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190000"/>
            <a:ext cx="2743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5B8DB8"/>
                </a:solidFill>
                <a:latin typeface="Calibri"/>
              </a:rPr>
              <a:t>Sensing 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19000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How far entities can detect. Short = chaotic. Long = strategic.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7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620000"/>
            <a:ext cx="2743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5B8DB8"/>
                </a:solidFill>
                <a:latin typeface="Calibri"/>
              </a:rPr>
              <a:t>Movement speed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62000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Fast = dynamic, quick encounters. Slow = contemplative.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00000"/>
            <a:ext cx="7772400" cy="914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4050000"/>
            <a:ext cx="2743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836D"/>
                </a:solidFill>
                <a:latin typeface="Calibri"/>
              </a:rPr>
              <a:t>Initial population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050000"/>
            <a:ext cx="54864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Starting ratios between species. Sets the initial conditions.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50000"/>
            <a:ext cx="7315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808080"/>
                </a:solidFill>
                <a:latin typeface="Calibri"/>
              </a:rPr>
              <a:t>Expose these as sliders in Unity inspector. Tweak live. Observe.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D4A843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828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7315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Building blocks of a living world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5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A843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1520" y="175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Entity with energy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1520" y="175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float energy, metabolism drain, death at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0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A843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1520" y="210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Visual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1520" y="210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Growth, color, decay tied to energy/age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5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5B8DB8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1520" y="245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1520" y="245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Wander randomly, or stand still (flora)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0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5B8DB8"/>
                </a:solidFill>
                <a:latin typeface="Calibri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1520" y="280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1520" y="280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Spawn offspring when energy is high enough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5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836D"/>
                </a:solidFill>
                <a:latin typeface="Calibr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1520" y="315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Sensing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1520" y="315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Detect nearby entities by type (trigger collider)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0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D4836D"/>
                </a:solidFill>
                <a:latin typeface="Calibri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1520" y="350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1520" y="350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Seek food, flee predators based on sensing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5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6BB36B"/>
                </a:solidFill>
                <a:latin typeface="Calibri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1520" y="385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Consuming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1520" y="385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On contact: transfer energy, destroy prey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00000"/>
            <a:ext cx="457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6BB36B"/>
                </a:solidFill>
                <a:latin typeface="Calibri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1520" y="42000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Balancing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1520" y="420000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 i="0">
                <a:solidFill>
                  <a:srgbClr val="B0B0B0"/>
                </a:solidFill>
                <a:latin typeface="Calibri"/>
              </a:rPr>
              <a:t>Tune parameters until the ecosystem breathes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00000"/>
            <a:ext cx="73152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i="0">
                <a:solidFill>
                  <a:srgbClr val="808080"/>
                </a:solidFill>
                <a:latin typeface="Calibri"/>
              </a:rPr>
              <a:t>Each step adds one layer. Together they produce emergence.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520" y="1200000"/>
            <a:ext cx="7772400" cy="2286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Let’s grow</a:t>
            </a:r>
          </a:p>
          <a:p>
            <a:r>
              <a:rPr sz="4800" b="1" i="0">
                <a:solidFill>
                  <a:srgbClr val="FFFFFF"/>
                </a:solidFill>
                <a:latin typeface="Calibri"/>
              </a:rPr>
              <a:t>an ecosystem.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00000"/>
            <a:ext cx="32004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800000"/>
            <a:ext cx="6400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B0B0B0"/>
                </a:solidFill>
                <a:latin typeface="Calibri"/>
              </a:rPr>
              <a:t>Demo: building a living world in Unity, step by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1518</Words>
  <Application>Microsoft Office PowerPoint</Application>
  <PresentationFormat>On-screen Show (16:9)</PresentationFormat>
  <Paragraphs>284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Petar A. Mavrodiev</cp:lastModifiedBy>
  <cp:revision>2</cp:revision>
  <dcterms:created xsi:type="dcterms:W3CDTF">2013-01-27T09:14:16Z</dcterms:created>
  <dcterms:modified xsi:type="dcterms:W3CDTF">2026-03-16T12:22:47Z</dcterms:modified>
  <cp:category/>
</cp:coreProperties>
</file>