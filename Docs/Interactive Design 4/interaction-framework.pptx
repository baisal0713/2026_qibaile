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1097280"/>
            <a:ext cx="7772400" cy="1828800"/>
          </a:xfrm>
          <a:prstGeom prst="rect">
            <a:avLst/>
          </a:prstGeom>
          <a:noFill/>
          <a:ln/>
        </p:spPr>
        <p:txBody>
          <a:bodyPr wrap="square" lIns="0" tIns="0" rIns="0" bIns="0" rtlCol="0" anchor="ctr"/>
          <a:lstStyle/>
          <a:p>
            <a:pPr indent="0" marL="0">
              <a:lnSpc>
                <a:spcPct val="110000"/>
              </a:lnSpc>
              <a:buNone/>
            </a:pPr>
            <a:r>
              <a:rPr lang="en-US" sz="4400" b="1" spc="300" kern="0" dirty="0">
                <a:solidFill>
                  <a:srgbClr val="FFFFFF"/>
                </a:solidFill>
                <a:latin typeface="Calibri" pitchFamily="34" charset="0"/>
                <a:ea typeface="Calibri" pitchFamily="34" charset="-122"/>
                <a:cs typeface="Calibri" pitchFamily="34" charset="-120"/>
              </a:rPr>
              <a:t>THE INTERACTION</a:t>
            </a:r>
            <a:endParaRPr lang="en-US" sz="4400" dirty="0"/>
          </a:p>
          <a:p>
            <a:pPr indent="0" marL="0">
              <a:lnSpc>
                <a:spcPct val="110000"/>
              </a:lnSpc>
              <a:buNone/>
            </a:pPr>
            <a:r>
              <a:rPr lang="en-US" sz="4400" b="1" spc="300" kern="0" dirty="0">
                <a:solidFill>
                  <a:srgbClr val="FFFFFF"/>
                </a:solidFill>
                <a:latin typeface="Calibri" pitchFamily="34" charset="0"/>
                <a:ea typeface="Calibri" pitchFamily="34" charset="-122"/>
                <a:cs typeface="Calibri" pitchFamily="34" charset="-120"/>
              </a:rPr>
              <a:t>FRAMEWORK</a:t>
            </a:r>
            <a:endParaRPr lang="en-US" sz="4400" dirty="0"/>
          </a:p>
        </p:txBody>
      </p:sp>
      <p:sp>
        <p:nvSpPr>
          <p:cNvPr id="3" name="Shape 1"/>
          <p:cNvSpPr/>
          <p:nvPr/>
        </p:nvSpPr>
        <p:spPr>
          <a:xfrm>
            <a:off x="731520" y="3108960"/>
            <a:ext cx="3657600" cy="36576"/>
          </a:xfrm>
          <a:prstGeom prst="rect">
            <a:avLst/>
          </a:prstGeom>
          <a:solidFill>
            <a:srgbClr val="D4A853"/>
          </a:solidFill>
          <a:ln/>
        </p:spPr>
      </p:sp>
      <p:sp>
        <p:nvSpPr>
          <p:cNvPr id="4" name="Text 2"/>
          <p:cNvSpPr/>
          <p:nvPr/>
        </p:nvSpPr>
        <p:spPr>
          <a:xfrm>
            <a:off x="731520" y="3337560"/>
            <a:ext cx="7315200" cy="457200"/>
          </a:xfrm>
          <a:prstGeom prst="rect">
            <a:avLst/>
          </a:prstGeom>
          <a:noFill/>
          <a:ln/>
        </p:spPr>
        <p:txBody>
          <a:bodyPr wrap="square" lIns="0" tIns="0" rIns="0" bIns="0" rtlCol="0" anchor="ctr"/>
          <a:lstStyle/>
          <a:p>
            <a:pPr indent="0" marL="0">
              <a:buNone/>
            </a:pPr>
            <a:r>
              <a:rPr lang="en-US" sz="1600" spc="200" kern="0" dirty="0">
                <a:solidFill>
                  <a:srgbClr val="999999"/>
                </a:solidFill>
                <a:latin typeface="Calibri" pitchFamily="34" charset="0"/>
                <a:ea typeface="Calibri" pitchFamily="34" charset="-122"/>
                <a:cs typeface="Calibri" pitchFamily="34" charset="-120"/>
              </a:rPr>
              <a:t>Grammar  ·  Vocabulary  ·  Syntax</a:t>
            </a:r>
            <a:endParaRPr lang="en-US" sz="1600" dirty="0"/>
          </a:p>
        </p:txBody>
      </p:sp>
      <p:sp>
        <p:nvSpPr>
          <p:cNvPr id="5" name="Text 3"/>
          <p:cNvSpPr/>
          <p:nvPr/>
        </p:nvSpPr>
        <p:spPr>
          <a:xfrm>
            <a:off x="731520" y="4389120"/>
            <a:ext cx="7315200" cy="36576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Interaction Design 4  ·  NABA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731520" y="457200"/>
            <a:ext cx="1828800" cy="36576"/>
          </a:xfrm>
          <a:prstGeom prst="rect">
            <a:avLst/>
          </a:prstGeom>
          <a:solidFill>
            <a:srgbClr val="D4A853"/>
          </a:solidFill>
          <a:ln/>
        </p:spPr>
      </p:sp>
      <p:sp>
        <p:nvSpPr>
          <p:cNvPr id="3" name="Text 1"/>
          <p:cNvSpPr/>
          <p:nvPr/>
        </p:nvSpPr>
        <p:spPr>
          <a:xfrm>
            <a:off x="731520" y="594360"/>
            <a:ext cx="77724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Three Layers</a:t>
            </a:r>
            <a:endParaRPr lang="en-US" sz="2200" dirty="0"/>
          </a:p>
        </p:txBody>
      </p:sp>
      <p:sp>
        <p:nvSpPr>
          <p:cNvPr id="4" name="Text 2"/>
          <p:cNvSpPr/>
          <p:nvPr/>
        </p:nvSpPr>
        <p:spPr>
          <a:xfrm>
            <a:off x="731520" y="1280160"/>
            <a:ext cx="7498080" cy="2926080"/>
          </a:xfrm>
          <a:prstGeom prst="rect">
            <a:avLst/>
          </a:prstGeom>
          <a:noFill/>
          <a:ln/>
        </p:spPr>
        <p:txBody>
          <a:bodyPr wrap="square" lIns="0" tIns="0" rIns="0" bIns="0" rtlCol="0" anchor="t"/>
          <a:lstStyle/>
          <a:p>
            <a:pPr indent="0" marL="0">
              <a:lnSpc>
                <a:spcPct val="135000"/>
              </a:lnSpc>
              <a:buNone/>
            </a:pPr>
            <a:r>
              <a:rPr lang="en-US" sz="1800" b="1" dirty="0">
                <a:solidFill>
                  <a:srgbClr val="D4A853"/>
                </a:solidFill>
                <a:latin typeface="Calibri" pitchFamily="34" charset="0"/>
                <a:ea typeface="Calibri" pitchFamily="34" charset="-122"/>
                <a:cs typeface="Calibri" pitchFamily="34" charset="-120"/>
              </a:rPr>
              <a:t>Grammar</a:t>
            </a:r>
            <a:endParaRPr lang="en-US" sz="1400" dirty="0"/>
          </a:p>
          <a:p>
            <a:pPr indent="0" marL="0">
              <a:lnSpc>
                <a:spcPct val="135000"/>
              </a:lnSpc>
              <a:buNone/>
            </a:pPr>
            <a:r>
              <a:rPr lang="en-US" sz="1400" dirty="0">
                <a:solidFill>
                  <a:srgbClr val="F0F0F0"/>
                </a:solidFill>
                <a:latin typeface="Calibri" pitchFamily="34" charset="0"/>
                <a:ea typeface="Calibri" pitchFamily="34" charset="-122"/>
                <a:cs typeface="Calibri" pitchFamily="34" charset="-120"/>
              </a:rPr>
              <a:t>The structural logic of how interactions work. What types of elements exist in any interactive system, and how they relate.</a:t>
            </a:r>
            <a:endParaRPr lang="en-US" sz="1400" dirty="0"/>
          </a:p>
          <a:p>
            <a:pPr indent="0" marL="0">
              <a:lnSpc>
                <a:spcPct val="135000"/>
              </a:lnSpc>
              <a:buNone/>
            </a:pPr>
            <a:endParaRPr lang="en-US" sz="1400" dirty="0"/>
          </a:p>
          <a:p>
            <a:pPr indent="0" marL="0">
              <a:lnSpc>
                <a:spcPct val="135000"/>
              </a:lnSpc>
              <a:buNone/>
            </a:pPr>
            <a:r>
              <a:rPr lang="en-US" sz="1800" b="1" dirty="0">
                <a:solidFill>
                  <a:srgbClr val="6B9EBF"/>
                </a:solidFill>
                <a:latin typeface="Calibri" pitchFamily="34" charset="0"/>
                <a:ea typeface="Calibri" pitchFamily="34" charset="-122"/>
                <a:cs typeface="Calibri" pitchFamily="34" charset="-120"/>
              </a:rPr>
              <a:t>Vocabulary</a:t>
            </a:r>
            <a:endParaRPr lang="en-US" sz="1400" dirty="0"/>
          </a:p>
          <a:p>
            <a:pPr indent="0" marL="0">
              <a:lnSpc>
                <a:spcPct val="135000"/>
              </a:lnSpc>
              <a:buNone/>
            </a:pPr>
            <a:r>
              <a:rPr lang="en-US" sz="1400" dirty="0">
                <a:solidFill>
                  <a:srgbClr val="F0F0F0"/>
                </a:solidFill>
                <a:latin typeface="Calibri" pitchFamily="34" charset="0"/>
                <a:ea typeface="Calibri" pitchFamily="34" charset="-122"/>
                <a:cs typeface="Calibri" pitchFamily="34" charset="-120"/>
              </a:rPr>
              <a:t>What the participant acts upon. The material palette — objects, environments, physics, agents, sound.</a:t>
            </a:r>
            <a:endParaRPr lang="en-US" sz="1400" dirty="0"/>
          </a:p>
          <a:p>
            <a:pPr indent="0" marL="0">
              <a:lnSpc>
                <a:spcPct val="135000"/>
              </a:lnSpc>
              <a:buNone/>
            </a:pPr>
            <a:endParaRPr lang="en-US" sz="1400" dirty="0"/>
          </a:p>
          <a:p>
            <a:pPr indent="0" marL="0">
              <a:lnSpc>
                <a:spcPct val="135000"/>
              </a:lnSpc>
              <a:buNone/>
            </a:pPr>
            <a:r>
              <a:rPr lang="en-US" sz="1800" b="1" dirty="0">
                <a:solidFill>
                  <a:srgbClr val="C45C4A"/>
                </a:solidFill>
                <a:latin typeface="Calibri" pitchFamily="34" charset="0"/>
                <a:ea typeface="Calibri" pitchFamily="34" charset="-122"/>
                <a:cs typeface="Calibri" pitchFamily="34" charset="-120"/>
              </a:rPr>
              <a:t>Syntax</a:t>
            </a:r>
            <a:endParaRPr lang="en-US" sz="1400" dirty="0"/>
          </a:p>
          <a:p>
            <a:pPr indent="0" marL="0">
              <a:lnSpc>
                <a:spcPct val="135000"/>
              </a:lnSpc>
              <a:buNone/>
            </a:pPr>
            <a:r>
              <a:rPr lang="en-US" sz="1400" dirty="0">
                <a:solidFill>
                  <a:srgbClr val="F0F0F0"/>
                </a:solidFill>
                <a:latin typeface="Calibri" pitchFamily="34" charset="0"/>
                <a:ea typeface="Calibri" pitchFamily="34" charset="-122"/>
                <a:cs typeface="Calibri" pitchFamily="34" charset="-120"/>
              </a:rPr>
              <a:t>How it's built in the engine. Data, simulation, presentation — the technical architecture.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365760"/>
            <a:ext cx="7315200" cy="548640"/>
          </a:xfrm>
          <a:prstGeom prst="rect">
            <a:avLst/>
          </a:prstGeom>
          <a:noFill/>
          <a:ln/>
        </p:spPr>
        <p:txBody>
          <a:bodyPr wrap="square" lIns="0" tIns="0" rIns="0" bIns="0" rtlCol="0" anchor="ctr"/>
          <a:lstStyle/>
          <a:p>
            <a:pPr indent="0" marL="0">
              <a:buNone/>
            </a:pPr>
            <a:r>
              <a:rPr lang="en-US" sz="2600" b="1" spc="300" kern="0" dirty="0">
                <a:solidFill>
                  <a:srgbClr val="FFFFFF"/>
                </a:solidFill>
                <a:latin typeface="Calibri" pitchFamily="34" charset="0"/>
                <a:ea typeface="Calibri" pitchFamily="34" charset="-122"/>
                <a:cs typeface="Calibri" pitchFamily="34" charset="-120"/>
              </a:rPr>
              <a:t>GRAMMAR</a:t>
            </a:r>
            <a:endParaRPr lang="en-US" sz="2600" dirty="0"/>
          </a:p>
        </p:txBody>
      </p:sp>
      <p:sp>
        <p:nvSpPr>
          <p:cNvPr id="3" name="Shape 1"/>
          <p:cNvSpPr/>
          <p:nvPr/>
        </p:nvSpPr>
        <p:spPr>
          <a:xfrm>
            <a:off x="731520" y="960120"/>
            <a:ext cx="2286000" cy="36576"/>
          </a:xfrm>
          <a:prstGeom prst="rect">
            <a:avLst/>
          </a:prstGeom>
          <a:solidFill>
            <a:srgbClr val="D4A853"/>
          </a:solidFill>
          <a:ln/>
        </p:spPr>
      </p:sp>
      <p:sp>
        <p:nvSpPr>
          <p:cNvPr id="4" name="Text 2"/>
          <p:cNvSpPr/>
          <p:nvPr/>
        </p:nvSpPr>
        <p:spPr>
          <a:xfrm>
            <a:off x="731520" y="1143000"/>
            <a:ext cx="7498080" cy="457200"/>
          </a:xfrm>
          <a:prstGeom prst="rect">
            <a:avLst/>
          </a:prstGeom>
          <a:noFill/>
          <a:ln/>
        </p:spPr>
        <p:txBody>
          <a:bodyPr wrap="square" lIns="0" tIns="0" rIns="0" bIns="0" rtlCol="0" anchor="ctr"/>
          <a:lstStyle/>
          <a:p>
            <a:pPr indent="0" marL="0">
              <a:lnSpc>
                <a:spcPct val="130000"/>
              </a:lnSpc>
              <a:buNone/>
            </a:pPr>
            <a:r>
              <a:rPr lang="en-US" sz="1300" dirty="0">
                <a:solidFill>
                  <a:srgbClr val="999999"/>
                </a:solidFill>
                <a:latin typeface="Calibri" pitchFamily="34" charset="0"/>
                <a:ea typeface="Calibri" pitchFamily="34" charset="-122"/>
                <a:cs typeface="Calibri" pitchFamily="34" charset="-120"/>
              </a:rPr>
              <a:t>Four structural types in any interactive system. Not a difficulty ladder — a typology.</a:t>
            </a:r>
            <a:endParaRPr lang="en-US" sz="1300" dirty="0"/>
          </a:p>
        </p:txBody>
      </p:sp>
      <p:sp>
        <p:nvSpPr>
          <p:cNvPr id="5" name="Text 3"/>
          <p:cNvSpPr/>
          <p:nvPr/>
        </p:nvSpPr>
        <p:spPr>
          <a:xfrm>
            <a:off x="1371600" y="1828800"/>
            <a:ext cx="731520" cy="731520"/>
          </a:xfrm>
          <a:prstGeom prst="rect">
            <a:avLst/>
          </a:prstGeom>
          <a:noFill/>
          <a:ln/>
        </p:spPr>
        <p:txBody>
          <a:bodyPr wrap="square" lIns="0" tIns="0" rIns="0" bIns="0" rtlCol="0" anchor="ctr"/>
          <a:lstStyle/>
          <a:p>
            <a:pPr algn="ctr" indent="0" marL="0">
              <a:buNone/>
            </a:pPr>
            <a:r>
              <a:rPr lang="en-US" sz="4800" b="1" dirty="0">
                <a:solidFill>
                  <a:srgbClr val="D4A853"/>
                </a:solidFill>
                <a:latin typeface="Calibri" pitchFamily="34" charset="0"/>
                <a:ea typeface="Calibri" pitchFamily="34" charset="-122"/>
                <a:cs typeface="Calibri" pitchFamily="34" charset="-120"/>
              </a:rPr>
              <a:t>P</a:t>
            </a:r>
            <a:endParaRPr lang="en-US" sz="4800" dirty="0"/>
          </a:p>
        </p:txBody>
      </p:sp>
      <p:sp>
        <p:nvSpPr>
          <p:cNvPr id="6" name="Text 4"/>
          <p:cNvSpPr/>
          <p:nvPr/>
        </p:nvSpPr>
        <p:spPr>
          <a:xfrm>
            <a:off x="2743200" y="1828800"/>
            <a:ext cx="731520" cy="731520"/>
          </a:xfrm>
          <a:prstGeom prst="rect">
            <a:avLst/>
          </a:prstGeom>
          <a:noFill/>
          <a:ln/>
        </p:spPr>
        <p:txBody>
          <a:bodyPr wrap="square" lIns="0" tIns="0" rIns="0" bIns="0" rtlCol="0" anchor="ctr"/>
          <a:lstStyle/>
          <a:p>
            <a:pPr algn="ctr" indent="0" marL="0">
              <a:buNone/>
            </a:pPr>
            <a:r>
              <a:rPr lang="en-US" sz="4800" b="1" dirty="0">
                <a:solidFill>
                  <a:srgbClr val="6B9EBF"/>
                </a:solidFill>
                <a:latin typeface="Calibri" pitchFamily="34" charset="0"/>
                <a:ea typeface="Calibri" pitchFamily="34" charset="-122"/>
                <a:cs typeface="Calibri" pitchFamily="34" charset="-120"/>
              </a:rPr>
              <a:t>L</a:t>
            </a:r>
            <a:endParaRPr lang="en-US" sz="4800" dirty="0"/>
          </a:p>
        </p:txBody>
      </p:sp>
      <p:sp>
        <p:nvSpPr>
          <p:cNvPr id="7" name="Text 5"/>
          <p:cNvSpPr/>
          <p:nvPr/>
        </p:nvSpPr>
        <p:spPr>
          <a:xfrm>
            <a:off x="3657600" y="1874520"/>
            <a:ext cx="640080" cy="640080"/>
          </a:xfrm>
          <a:prstGeom prst="rect">
            <a:avLst/>
          </a:prstGeom>
          <a:noFill/>
          <a:ln/>
        </p:spPr>
        <p:txBody>
          <a:bodyPr wrap="square" lIns="0" tIns="0" rIns="0" bIns="0" rtlCol="0" anchor="ctr"/>
          <a:lstStyle/>
          <a:p>
            <a:pPr algn="ctr" indent="0" marL="0">
              <a:buNone/>
            </a:pPr>
            <a:r>
              <a:rPr lang="en-US" sz="2800" dirty="0">
                <a:solidFill>
                  <a:srgbClr val="666666"/>
                </a:solidFill>
                <a:latin typeface="Calibri" pitchFamily="34" charset="0"/>
                <a:ea typeface="Calibri" pitchFamily="34" charset="-122"/>
                <a:cs typeface="Calibri" pitchFamily="34" charset="-120"/>
              </a:rPr>
              <a:t>⇄</a:t>
            </a:r>
            <a:endParaRPr lang="en-US" sz="2800" dirty="0"/>
          </a:p>
        </p:txBody>
      </p:sp>
      <p:sp>
        <p:nvSpPr>
          <p:cNvPr id="8" name="Text 6"/>
          <p:cNvSpPr/>
          <p:nvPr/>
        </p:nvSpPr>
        <p:spPr>
          <a:xfrm>
            <a:off x="4480560" y="1828800"/>
            <a:ext cx="731520" cy="731520"/>
          </a:xfrm>
          <a:prstGeom prst="rect">
            <a:avLst/>
          </a:prstGeom>
          <a:noFill/>
          <a:ln/>
        </p:spPr>
        <p:txBody>
          <a:bodyPr wrap="square" lIns="0" tIns="0" rIns="0" bIns="0" rtlCol="0" anchor="ctr"/>
          <a:lstStyle/>
          <a:p>
            <a:pPr algn="ctr" indent="0" marL="0">
              <a:buNone/>
            </a:pPr>
            <a:r>
              <a:rPr lang="en-US" sz="4800" b="1" dirty="0">
                <a:solidFill>
                  <a:srgbClr val="6B9EBF"/>
                </a:solidFill>
                <a:latin typeface="Calibri" pitchFamily="34" charset="0"/>
                <a:ea typeface="Calibri" pitchFamily="34" charset="-122"/>
                <a:cs typeface="Calibri" pitchFamily="34" charset="-120"/>
              </a:rPr>
              <a:t>A</a:t>
            </a:r>
            <a:endParaRPr lang="en-US" sz="4800" dirty="0"/>
          </a:p>
        </p:txBody>
      </p:sp>
      <p:sp>
        <p:nvSpPr>
          <p:cNvPr id="9" name="Text 7"/>
          <p:cNvSpPr/>
          <p:nvPr/>
        </p:nvSpPr>
        <p:spPr>
          <a:xfrm>
            <a:off x="5852160" y="1828800"/>
            <a:ext cx="731520" cy="731520"/>
          </a:xfrm>
          <a:prstGeom prst="rect">
            <a:avLst/>
          </a:prstGeom>
          <a:noFill/>
          <a:ln/>
        </p:spPr>
        <p:txBody>
          <a:bodyPr wrap="square" lIns="0" tIns="0" rIns="0" bIns="0" rtlCol="0" anchor="ctr"/>
          <a:lstStyle/>
          <a:p>
            <a:pPr algn="ctr" indent="0" marL="0">
              <a:buNone/>
            </a:pPr>
            <a:r>
              <a:rPr lang="en-US" sz="4800" b="1" dirty="0">
                <a:solidFill>
                  <a:srgbClr val="C45C4A"/>
                </a:solidFill>
                <a:latin typeface="Calibri" pitchFamily="34" charset="0"/>
                <a:ea typeface="Calibri" pitchFamily="34" charset="-122"/>
                <a:cs typeface="Calibri" pitchFamily="34" charset="-120"/>
              </a:rPr>
              <a:t>Y</a:t>
            </a:r>
            <a:endParaRPr lang="en-US" sz="4800" dirty="0"/>
          </a:p>
        </p:txBody>
      </p:sp>
      <p:sp>
        <p:nvSpPr>
          <p:cNvPr id="10" name="Text 8"/>
          <p:cNvSpPr/>
          <p:nvPr/>
        </p:nvSpPr>
        <p:spPr>
          <a:xfrm>
            <a:off x="1371600" y="2606040"/>
            <a:ext cx="731520" cy="320040"/>
          </a:xfrm>
          <a:prstGeom prst="rect">
            <a:avLst/>
          </a:prstGeom>
          <a:noFill/>
          <a:ln/>
        </p:spPr>
        <p:txBody>
          <a:bodyPr wrap="square" lIns="0" tIns="0" rIns="0" bIns="0" rtlCol="0" anchor="ctr"/>
          <a:lstStyle/>
          <a:p>
            <a:pPr algn="ctr" indent="0" marL="0">
              <a:buNone/>
            </a:pPr>
            <a:r>
              <a:rPr lang="en-US" sz="1100" dirty="0">
                <a:solidFill>
                  <a:srgbClr val="999999"/>
                </a:solidFill>
                <a:latin typeface="Calibri" pitchFamily="34" charset="0"/>
                <a:ea typeface="Calibri" pitchFamily="34" charset="-122"/>
                <a:cs typeface="Calibri" pitchFamily="34" charset="-120"/>
              </a:rPr>
              <a:t>Parts</a:t>
            </a:r>
            <a:endParaRPr lang="en-US" sz="1100" dirty="0"/>
          </a:p>
        </p:txBody>
      </p:sp>
      <p:sp>
        <p:nvSpPr>
          <p:cNvPr id="11" name="Text 9"/>
          <p:cNvSpPr/>
          <p:nvPr/>
        </p:nvSpPr>
        <p:spPr>
          <a:xfrm>
            <a:off x="2743200" y="2606040"/>
            <a:ext cx="731520" cy="320040"/>
          </a:xfrm>
          <a:prstGeom prst="rect">
            <a:avLst/>
          </a:prstGeom>
          <a:noFill/>
          <a:ln/>
        </p:spPr>
        <p:txBody>
          <a:bodyPr wrap="square" lIns="0" tIns="0" rIns="0" bIns="0" rtlCol="0" anchor="ctr"/>
          <a:lstStyle/>
          <a:p>
            <a:pPr algn="ctr" indent="0" marL="0">
              <a:buNone/>
            </a:pPr>
            <a:r>
              <a:rPr lang="en-US" sz="1100" dirty="0">
                <a:solidFill>
                  <a:srgbClr val="999999"/>
                </a:solidFill>
                <a:latin typeface="Calibri" pitchFamily="34" charset="0"/>
                <a:ea typeface="Calibri" pitchFamily="34" charset="-122"/>
                <a:cs typeface="Calibri" pitchFamily="34" charset="-120"/>
              </a:rPr>
              <a:t>Loops</a:t>
            </a:r>
            <a:endParaRPr lang="en-US" sz="1100" dirty="0"/>
          </a:p>
        </p:txBody>
      </p:sp>
      <p:sp>
        <p:nvSpPr>
          <p:cNvPr id="12" name="Text 10"/>
          <p:cNvSpPr/>
          <p:nvPr/>
        </p:nvSpPr>
        <p:spPr>
          <a:xfrm>
            <a:off x="4480560" y="2606040"/>
            <a:ext cx="731520" cy="320040"/>
          </a:xfrm>
          <a:prstGeom prst="rect">
            <a:avLst/>
          </a:prstGeom>
          <a:noFill/>
          <a:ln/>
        </p:spPr>
        <p:txBody>
          <a:bodyPr wrap="square" lIns="0" tIns="0" rIns="0" bIns="0" rtlCol="0" anchor="ctr"/>
          <a:lstStyle/>
          <a:p>
            <a:pPr algn="ctr" indent="0" marL="0">
              <a:buNone/>
            </a:pPr>
            <a:r>
              <a:rPr lang="en-US" sz="1100" dirty="0">
                <a:solidFill>
                  <a:srgbClr val="999999"/>
                </a:solidFill>
                <a:latin typeface="Calibri" pitchFamily="34" charset="0"/>
                <a:ea typeface="Calibri" pitchFamily="34" charset="-122"/>
                <a:cs typeface="Calibri" pitchFamily="34" charset="-120"/>
              </a:rPr>
              <a:t>Actions</a:t>
            </a:r>
            <a:endParaRPr lang="en-US" sz="1100" dirty="0"/>
          </a:p>
        </p:txBody>
      </p:sp>
      <p:sp>
        <p:nvSpPr>
          <p:cNvPr id="13" name="Text 11"/>
          <p:cNvSpPr/>
          <p:nvPr/>
        </p:nvSpPr>
        <p:spPr>
          <a:xfrm>
            <a:off x="5852160" y="2606040"/>
            <a:ext cx="731520" cy="320040"/>
          </a:xfrm>
          <a:prstGeom prst="rect">
            <a:avLst/>
          </a:prstGeom>
          <a:noFill/>
          <a:ln/>
        </p:spPr>
        <p:txBody>
          <a:bodyPr wrap="square" lIns="0" tIns="0" rIns="0" bIns="0" rtlCol="0" anchor="ctr"/>
          <a:lstStyle/>
          <a:p>
            <a:pPr algn="ctr" indent="0" marL="0">
              <a:buNone/>
            </a:pPr>
            <a:r>
              <a:rPr lang="en-US" sz="1100" dirty="0">
                <a:solidFill>
                  <a:srgbClr val="999999"/>
                </a:solidFill>
                <a:latin typeface="Calibri" pitchFamily="34" charset="0"/>
                <a:ea typeface="Calibri" pitchFamily="34" charset="-122"/>
                <a:cs typeface="Calibri" pitchFamily="34" charset="-120"/>
              </a:rPr>
              <a:t>Yields</a:t>
            </a:r>
            <a:endParaRPr lang="en-US" sz="1100" dirty="0"/>
          </a:p>
        </p:txBody>
      </p:sp>
      <p:sp>
        <p:nvSpPr>
          <p:cNvPr id="14" name="Text 12"/>
          <p:cNvSpPr/>
          <p:nvPr/>
        </p:nvSpPr>
        <p:spPr>
          <a:xfrm>
            <a:off x="731520" y="3200400"/>
            <a:ext cx="7315200" cy="548640"/>
          </a:xfrm>
          <a:prstGeom prst="rect">
            <a:avLst/>
          </a:prstGeom>
          <a:noFill/>
          <a:ln/>
        </p:spPr>
        <p:txBody>
          <a:bodyPr wrap="square" lIns="0" tIns="0" rIns="0" bIns="0" rtlCol="0" anchor="ctr"/>
          <a:lstStyle/>
          <a:p>
            <a:pPr indent="0" marL="0">
              <a:lnSpc>
                <a:spcPct val="130000"/>
              </a:lnSpc>
              <a:buNone/>
            </a:pPr>
            <a:r>
              <a:rPr lang="en-US" sz="1100" i="1" dirty="0">
                <a:solidFill>
                  <a:srgbClr val="666666"/>
                </a:solidFill>
                <a:latin typeface="Calibri" pitchFamily="34" charset="0"/>
                <a:ea typeface="Calibri" pitchFamily="34" charset="-122"/>
                <a:cs typeface="Calibri" pitchFamily="34" charset="-120"/>
              </a:rPr>
              <a:t>The conceptual order is Parts → Actions → Loops → Yields.</a:t>
            </a:r>
            <a:endParaRPr lang="en-US" sz="1100" dirty="0"/>
          </a:p>
          <a:p>
            <a:pPr indent="0" marL="0">
              <a:lnSpc>
                <a:spcPct val="130000"/>
              </a:lnSpc>
              <a:buNone/>
            </a:pPr>
            <a:r>
              <a:rPr lang="en-US" sz="1100" i="1" dirty="0">
                <a:solidFill>
                  <a:srgbClr val="666666"/>
                </a:solidFill>
                <a:latin typeface="Calibri" pitchFamily="34" charset="0"/>
                <a:ea typeface="Calibri" pitchFamily="34" charset="-122"/>
                <a:cs typeface="Calibri" pitchFamily="34" charset="-120"/>
              </a:rPr>
              <a:t>The acronym swaps L and A to spell PLAY.</a:t>
            </a:r>
            <a:endParaRPr lang="en-US" sz="1100" dirty="0"/>
          </a:p>
        </p:txBody>
      </p:sp>
      <p:sp>
        <p:nvSpPr>
          <p:cNvPr id="15" name="Shape 13"/>
          <p:cNvSpPr/>
          <p:nvPr/>
        </p:nvSpPr>
        <p:spPr>
          <a:xfrm>
            <a:off x="731520" y="3703320"/>
            <a:ext cx="1828800" cy="1097280"/>
          </a:xfrm>
          <a:prstGeom prst="rect">
            <a:avLst/>
          </a:prstGeom>
          <a:solidFill>
            <a:srgbClr val="1A1A1A"/>
          </a:solidFill>
          <a:ln/>
        </p:spPr>
      </p:sp>
      <p:sp>
        <p:nvSpPr>
          <p:cNvPr id="16" name="Shape 14"/>
          <p:cNvSpPr/>
          <p:nvPr/>
        </p:nvSpPr>
        <p:spPr>
          <a:xfrm>
            <a:off x="731520" y="3703320"/>
            <a:ext cx="1828800" cy="36576"/>
          </a:xfrm>
          <a:prstGeom prst="rect">
            <a:avLst/>
          </a:prstGeom>
          <a:solidFill>
            <a:srgbClr val="D4A853"/>
          </a:solidFill>
          <a:ln/>
        </p:spPr>
      </p:sp>
      <p:sp>
        <p:nvSpPr>
          <p:cNvPr id="17" name="Text 15"/>
          <p:cNvSpPr/>
          <p:nvPr/>
        </p:nvSpPr>
        <p:spPr>
          <a:xfrm>
            <a:off x="868680" y="3813048"/>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Parts</a:t>
            </a:r>
            <a:endParaRPr lang="en-US" sz="1200" dirty="0"/>
          </a:p>
        </p:txBody>
      </p:sp>
      <p:sp>
        <p:nvSpPr>
          <p:cNvPr id="18" name="Text 16"/>
          <p:cNvSpPr/>
          <p:nvPr/>
        </p:nvSpPr>
        <p:spPr>
          <a:xfrm>
            <a:off x="868680" y="4114800"/>
            <a:ext cx="1554480" cy="594360"/>
          </a:xfrm>
          <a:prstGeom prst="rect">
            <a:avLst/>
          </a:prstGeom>
          <a:noFill/>
          <a:ln/>
        </p:spPr>
        <p:txBody>
          <a:bodyPr wrap="square" lIns="0" tIns="0" rIns="0" bIns="0" rtlCol="0" anchor="ctr"/>
          <a:lstStyle/>
          <a:p>
            <a:pPr indent="0" marL="0">
              <a:lnSpc>
                <a:spcPct val="120000"/>
              </a:lnSpc>
              <a:buNone/>
            </a:pPr>
            <a:r>
              <a:rPr lang="en-US" sz="1000" dirty="0">
                <a:solidFill>
                  <a:srgbClr val="999999"/>
                </a:solidFill>
                <a:latin typeface="Calibri" pitchFamily="34" charset="0"/>
                <a:ea typeface="Calibri" pitchFamily="34" charset="-122"/>
                <a:cs typeface="Calibri" pitchFamily="34" charset="-120"/>
              </a:rPr>
              <a:t>Atoms. Things that exist</a:t>
            </a:r>
            <a:endParaRPr lang="en-US" sz="1000" dirty="0"/>
          </a:p>
          <a:p>
            <a:pPr indent="0" marL="0">
              <a:lnSpc>
                <a:spcPct val="120000"/>
              </a:lnSpc>
              <a:buNone/>
            </a:pPr>
            <a:r>
              <a:rPr lang="en-US" sz="1000" dirty="0">
                <a:solidFill>
                  <a:srgbClr val="999999"/>
                </a:solidFill>
                <a:latin typeface="Calibri" pitchFamily="34" charset="0"/>
                <a:ea typeface="Calibri" pitchFamily="34" charset="-122"/>
                <a:cs typeface="Calibri" pitchFamily="34" charset="-120"/>
              </a:rPr>
              <a:t>and have state.</a:t>
            </a:r>
            <a:endParaRPr lang="en-US" sz="1000" dirty="0"/>
          </a:p>
        </p:txBody>
      </p:sp>
      <p:sp>
        <p:nvSpPr>
          <p:cNvPr id="19" name="Shape 17"/>
          <p:cNvSpPr/>
          <p:nvPr/>
        </p:nvSpPr>
        <p:spPr>
          <a:xfrm>
            <a:off x="2788920" y="3703320"/>
            <a:ext cx="1828800" cy="1097280"/>
          </a:xfrm>
          <a:prstGeom prst="rect">
            <a:avLst/>
          </a:prstGeom>
          <a:solidFill>
            <a:srgbClr val="1A1A1A"/>
          </a:solidFill>
          <a:ln/>
        </p:spPr>
      </p:sp>
      <p:sp>
        <p:nvSpPr>
          <p:cNvPr id="20" name="Shape 18"/>
          <p:cNvSpPr/>
          <p:nvPr/>
        </p:nvSpPr>
        <p:spPr>
          <a:xfrm>
            <a:off x="2788920" y="3703320"/>
            <a:ext cx="1828800" cy="36576"/>
          </a:xfrm>
          <a:prstGeom prst="rect">
            <a:avLst/>
          </a:prstGeom>
          <a:solidFill>
            <a:srgbClr val="6B9EBF"/>
          </a:solidFill>
          <a:ln/>
        </p:spPr>
      </p:sp>
      <p:sp>
        <p:nvSpPr>
          <p:cNvPr id="21" name="Text 19"/>
          <p:cNvSpPr/>
          <p:nvPr/>
        </p:nvSpPr>
        <p:spPr>
          <a:xfrm>
            <a:off x="2926080" y="3813048"/>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Actions</a:t>
            </a:r>
            <a:endParaRPr lang="en-US" sz="1200" dirty="0"/>
          </a:p>
        </p:txBody>
      </p:sp>
      <p:sp>
        <p:nvSpPr>
          <p:cNvPr id="22" name="Text 20"/>
          <p:cNvSpPr/>
          <p:nvPr/>
        </p:nvSpPr>
        <p:spPr>
          <a:xfrm>
            <a:off x="2926080" y="4114800"/>
            <a:ext cx="1554480" cy="594360"/>
          </a:xfrm>
          <a:prstGeom prst="rect">
            <a:avLst/>
          </a:prstGeom>
          <a:noFill/>
          <a:ln/>
        </p:spPr>
        <p:txBody>
          <a:bodyPr wrap="square" lIns="0" tIns="0" rIns="0" bIns="0" rtlCol="0" anchor="ctr"/>
          <a:lstStyle/>
          <a:p>
            <a:pPr indent="0" marL="0">
              <a:lnSpc>
                <a:spcPct val="120000"/>
              </a:lnSpc>
              <a:buNone/>
            </a:pPr>
            <a:r>
              <a:rPr lang="en-US" sz="1000" dirty="0">
                <a:solidFill>
                  <a:srgbClr val="999999"/>
                </a:solidFill>
                <a:latin typeface="Calibri" pitchFamily="34" charset="0"/>
                <a:ea typeface="Calibri" pitchFamily="34" charset="-122"/>
                <a:cs typeface="Calibri" pitchFamily="34" charset="-120"/>
              </a:rPr>
              <a:t>Verbs. Triggers,</a:t>
            </a:r>
            <a:endParaRPr lang="en-US" sz="1000" dirty="0"/>
          </a:p>
          <a:p>
            <a:pPr indent="0" marL="0">
              <a:lnSpc>
                <a:spcPct val="120000"/>
              </a:lnSpc>
              <a:buNone/>
            </a:pPr>
            <a:r>
              <a:rPr lang="en-US" sz="1000" dirty="0">
                <a:solidFill>
                  <a:srgbClr val="999999"/>
                </a:solidFill>
                <a:latin typeface="Calibri" pitchFamily="34" charset="0"/>
                <a:ea typeface="Calibri" pitchFamily="34" charset="-122"/>
                <a:cs typeface="Calibri" pitchFamily="34" charset="-120"/>
              </a:rPr>
              <a:t>checks, effects.</a:t>
            </a:r>
            <a:endParaRPr lang="en-US" sz="1000" dirty="0"/>
          </a:p>
        </p:txBody>
      </p:sp>
      <p:sp>
        <p:nvSpPr>
          <p:cNvPr id="23" name="Shape 21"/>
          <p:cNvSpPr/>
          <p:nvPr/>
        </p:nvSpPr>
        <p:spPr>
          <a:xfrm>
            <a:off x="4846320" y="3703320"/>
            <a:ext cx="1828800" cy="1097280"/>
          </a:xfrm>
          <a:prstGeom prst="rect">
            <a:avLst/>
          </a:prstGeom>
          <a:solidFill>
            <a:srgbClr val="1A1A1A"/>
          </a:solidFill>
          <a:ln/>
        </p:spPr>
      </p:sp>
      <p:sp>
        <p:nvSpPr>
          <p:cNvPr id="24" name="Shape 22"/>
          <p:cNvSpPr/>
          <p:nvPr/>
        </p:nvSpPr>
        <p:spPr>
          <a:xfrm>
            <a:off x="4846320" y="3703320"/>
            <a:ext cx="1828800" cy="36576"/>
          </a:xfrm>
          <a:prstGeom prst="rect">
            <a:avLst/>
          </a:prstGeom>
          <a:solidFill>
            <a:srgbClr val="6B9EBF"/>
          </a:solidFill>
          <a:ln/>
        </p:spPr>
      </p:sp>
      <p:sp>
        <p:nvSpPr>
          <p:cNvPr id="25" name="Text 23"/>
          <p:cNvSpPr/>
          <p:nvPr/>
        </p:nvSpPr>
        <p:spPr>
          <a:xfrm>
            <a:off x="4983480" y="3813048"/>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Loops</a:t>
            </a:r>
            <a:endParaRPr lang="en-US" sz="1200" dirty="0"/>
          </a:p>
        </p:txBody>
      </p:sp>
      <p:sp>
        <p:nvSpPr>
          <p:cNvPr id="26" name="Text 24"/>
          <p:cNvSpPr/>
          <p:nvPr/>
        </p:nvSpPr>
        <p:spPr>
          <a:xfrm>
            <a:off x="4983480" y="4114800"/>
            <a:ext cx="1554480" cy="594360"/>
          </a:xfrm>
          <a:prstGeom prst="rect">
            <a:avLst/>
          </a:prstGeom>
          <a:noFill/>
          <a:ln/>
        </p:spPr>
        <p:txBody>
          <a:bodyPr wrap="square" lIns="0" tIns="0" rIns="0" bIns="0" rtlCol="0" anchor="ctr"/>
          <a:lstStyle/>
          <a:p>
            <a:pPr indent="0" marL="0">
              <a:lnSpc>
                <a:spcPct val="120000"/>
              </a:lnSpc>
              <a:buNone/>
            </a:pPr>
            <a:r>
              <a:rPr lang="en-US" sz="1000" dirty="0">
                <a:solidFill>
                  <a:srgbClr val="999999"/>
                </a:solidFill>
                <a:latin typeface="Calibri" pitchFamily="34" charset="0"/>
                <a:ea typeface="Calibri" pitchFamily="34" charset="-122"/>
                <a:cs typeface="Calibri" pitchFamily="34" charset="-120"/>
              </a:rPr>
              <a:t>Cycles. Feedback,</a:t>
            </a:r>
            <a:endParaRPr lang="en-US" sz="1000" dirty="0"/>
          </a:p>
          <a:p>
            <a:pPr indent="0" marL="0">
              <a:lnSpc>
                <a:spcPct val="120000"/>
              </a:lnSpc>
              <a:buNone/>
            </a:pPr>
            <a:r>
              <a:rPr lang="en-US" sz="1000" dirty="0">
                <a:solidFill>
                  <a:srgbClr val="999999"/>
                </a:solidFill>
                <a:latin typeface="Calibri" pitchFamily="34" charset="0"/>
                <a:ea typeface="Calibri" pitchFamily="34" charset="-122"/>
                <a:cs typeface="Calibri" pitchFamily="34" charset="-120"/>
              </a:rPr>
              <a:t>rhythm, dynamics.</a:t>
            </a:r>
            <a:endParaRPr lang="en-US" sz="1000" dirty="0"/>
          </a:p>
        </p:txBody>
      </p:sp>
      <p:sp>
        <p:nvSpPr>
          <p:cNvPr id="27" name="Shape 25"/>
          <p:cNvSpPr/>
          <p:nvPr/>
        </p:nvSpPr>
        <p:spPr>
          <a:xfrm>
            <a:off x="6903720" y="3703320"/>
            <a:ext cx="1828800" cy="1097280"/>
          </a:xfrm>
          <a:prstGeom prst="rect">
            <a:avLst/>
          </a:prstGeom>
          <a:solidFill>
            <a:srgbClr val="1A1A1A"/>
          </a:solidFill>
          <a:ln/>
        </p:spPr>
      </p:sp>
      <p:sp>
        <p:nvSpPr>
          <p:cNvPr id="28" name="Shape 26"/>
          <p:cNvSpPr/>
          <p:nvPr/>
        </p:nvSpPr>
        <p:spPr>
          <a:xfrm>
            <a:off x="6903720" y="3703320"/>
            <a:ext cx="1828800" cy="36576"/>
          </a:xfrm>
          <a:prstGeom prst="rect">
            <a:avLst/>
          </a:prstGeom>
          <a:solidFill>
            <a:srgbClr val="C45C4A"/>
          </a:solidFill>
          <a:ln/>
        </p:spPr>
      </p:sp>
      <p:sp>
        <p:nvSpPr>
          <p:cNvPr id="29" name="Text 27"/>
          <p:cNvSpPr/>
          <p:nvPr/>
        </p:nvSpPr>
        <p:spPr>
          <a:xfrm>
            <a:off x="7040880" y="3813048"/>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Yields</a:t>
            </a:r>
            <a:endParaRPr lang="en-US" sz="1200" dirty="0"/>
          </a:p>
        </p:txBody>
      </p:sp>
      <p:sp>
        <p:nvSpPr>
          <p:cNvPr id="30" name="Text 28"/>
          <p:cNvSpPr/>
          <p:nvPr/>
        </p:nvSpPr>
        <p:spPr>
          <a:xfrm>
            <a:off x="7040880" y="4114800"/>
            <a:ext cx="1554480" cy="594360"/>
          </a:xfrm>
          <a:prstGeom prst="rect">
            <a:avLst/>
          </a:prstGeom>
          <a:noFill/>
          <a:ln/>
        </p:spPr>
        <p:txBody>
          <a:bodyPr wrap="square" lIns="0" tIns="0" rIns="0" bIns="0" rtlCol="0" anchor="ctr"/>
          <a:lstStyle/>
          <a:p>
            <a:pPr indent="0" marL="0">
              <a:lnSpc>
                <a:spcPct val="120000"/>
              </a:lnSpc>
              <a:buNone/>
            </a:pPr>
            <a:r>
              <a:rPr lang="en-US" sz="1000" dirty="0">
                <a:solidFill>
                  <a:srgbClr val="999999"/>
                </a:solidFill>
                <a:latin typeface="Calibri" pitchFamily="34" charset="0"/>
                <a:ea typeface="Calibri" pitchFamily="34" charset="-122"/>
                <a:cs typeface="Calibri" pitchFamily="34" charset="-120"/>
              </a:rPr>
              <a:t>Emergence. The whole</a:t>
            </a:r>
            <a:endParaRPr lang="en-US" sz="1000" dirty="0"/>
          </a:p>
          <a:p>
            <a:pPr indent="0" marL="0">
              <a:lnSpc>
                <a:spcPct val="120000"/>
              </a:lnSpc>
              <a:buNone/>
            </a:pPr>
            <a:r>
              <a:rPr lang="en-US" sz="1000" dirty="0">
                <a:solidFill>
                  <a:srgbClr val="999999"/>
                </a:solidFill>
                <a:latin typeface="Calibri" pitchFamily="34" charset="0"/>
                <a:ea typeface="Calibri" pitchFamily="34" charset="-122"/>
                <a:cs typeface="Calibri" pitchFamily="34" charset="-120"/>
              </a:rPr>
              <a:t>exceeds the sum.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731520" y="457200"/>
            <a:ext cx="1828800" cy="36576"/>
          </a:xfrm>
          <a:prstGeom prst="rect">
            <a:avLst/>
          </a:prstGeom>
          <a:solidFill>
            <a:srgbClr val="D4A853"/>
          </a:solidFill>
          <a:ln/>
        </p:spPr>
      </p:sp>
      <p:sp>
        <p:nvSpPr>
          <p:cNvPr id="3" name="Text 1"/>
          <p:cNvSpPr/>
          <p:nvPr/>
        </p:nvSpPr>
        <p:spPr>
          <a:xfrm>
            <a:off x="731520" y="594360"/>
            <a:ext cx="77724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Parts + Actions</a:t>
            </a:r>
            <a:endParaRPr lang="en-US" sz="2200" dirty="0"/>
          </a:p>
        </p:txBody>
      </p:sp>
      <p:sp>
        <p:nvSpPr>
          <p:cNvPr id="4" name="Text 2"/>
          <p:cNvSpPr/>
          <p:nvPr/>
        </p:nvSpPr>
        <p:spPr>
          <a:xfrm>
            <a:off x="731520" y="1280160"/>
            <a:ext cx="7498080" cy="2926080"/>
          </a:xfrm>
          <a:prstGeom prst="rect">
            <a:avLst/>
          </a:prstGeom>
          <a:noFill/>
          <a:ln/>
        </p:spPr>
        <p:txBody>
          <a:bodyPr wrap="square" lIns="0" tIns="0" rIns="0" bIns="0" rtlCol="0" anchor="t"/>
          <a:lstStyle/>
          <a:p>
            <a:pPr indent="0" marL="0">
              <a:lnSpc>
                <a:spcPct val="135000"/>
              </a:lnSpc>
              <a:buNone/>
            </a:pPr>
            <a:r>
              <a:rPr lang="en-US" sz="1400" b="1" dirty="0">
                <a:solidFill>
                  <a:srgbClr val="D4A853"/>
                </a:solidFill>
                <a:latin typeface="Calibri" pitchFamily="34" charset="0"/>
                <a:ea typeface="Calibri" pitchFamily="34" charset="-122"/>
                <a:cs typeface="Calibri" pitchFamily="34" charset="-120"/>
              </a:rPr>
              <a:t>Parts </a:t>
            </a:r>
            <a:pPr indent="0" marL="0">
              <a:lnSpc>
                <a:spcPct val="135000"/>
              </a:lnSpc>
              <a:buNone/>
            </a:pPr>
            <a:r>
              <a:rPr lang="en-US" sz="1400" dirty="0">
                <a:solidFill>
                  <a:srgbClr val="F0F0F0"/>
                </a:solidFill>
                <a:latin typeface="Calibri" pitchFamily="34" charset="0"/>
                <a:ea typeface="Calibri" pitchFamily="34" charset="-122"/>
                <a:cs typeface="Calibri" pitchFamily="34" charset="-120"/>
              </a:rPr>
              <a:t>— what the world remembers. A door has a state (open/closed). A room has a light level. A counter holds a number. Before anything happens, the world is made of named, trackable things.</a:t>
            </a:r>
            <a:endParaRPr lang="en-US" sz="1400" dirty="0"/>
          </a:p>
          <a:p>
            <a:pPr indent="0" marL="0">
              <a:lnSpc>
                <a:spcPct val="135000"/>
              </a:lnSpc>
              <a:buNone/>
            </a:pPr>
            <a:endParaRPr lang="en-US" sz="1400" dirty="0"/>
          </a:p>
          <a:p>
            <a:pPr indent="0" marL="0">
              <a:lnSpc>
                <a:spcPct val="135000"/>
              </a:lnSpc>
              <a:buNone/>
            </a:pPr>
            <a:r>
              <a:rPr lang="en-US" sz="1400" b="1" dirty="0">
                <a:solidFill>
                  <a:srgbClr val="6B9EBF"/>
                </a:solidFill>
                <a:latin typeface="Calibri" pitchFamily="34" charset="0"/>
                <a:ea typeface="Calibri" pitchFamily="34" charset="-122"/>
                <a:cs typeface="Calibri" pitchFamily="34" charset="-120"/>
              </a:rPr>
              <a:t>Actions </a:t>
            </a:r>
            <a:pPr indent="0" marL="0">
              <a:lnSpc>
                <a:spcPct val="135000"/>
              </a:lnSpc>
              <a:buNone/>
            </a:pPr>
            <a:r>
              <a:rPr lang="en-US" sz="1400" dirty="0">
                <a:solidFill>
                  <a:srgbClr val="F0F0F0"/>
                </a:solidFill>
                <a:latin typeface="Calibri" pitchFamily="34" charset="0"/>
                <a:ea typeface="Calibri" pitchFamily="34" charset="-122"/>
                <a:cs typeface="Calibri" pitchFamily="34" charset="-120"/>
              </a:rPr>
              <a:t>— what the participant causes. Trigger → check → effect. A participant steps into a zone, a condition is met, something changes. Each action is a single sentence: subject does thing to object.</a:t>
            </a:r>
            <a:endParaRPr lang="en-US" sz="1400" dirty="0"/>
          </a:p>
          <a:p>
            <a:pPr indent="0" marL="0">
              <a:lnSpc>
                <a:spcPct val="135000"/>
              </a:lnSpc>
              <a:buNone/>
            </a:pPr>
            <a:endParaRPr lang="en-US" sz="1400" dirty="0"/>
          </a:p>
          <a:p>
            <a:pPr indent="0" marL="0">
              <a:lnSpc>
                <a:spcPct val="135000"/>
              </a:lnSpc>
              <a:buNone/>
            </a:pPr>
            <a:r>
              <a:rPr lang="en-US" sz="1400" i="1" dirty="0">
                <a:solidFill>
                  <a:srgbClr val="999999"/>
                </a:solidFill>
                <a:latin typeface="Calibri" pitchFamily="34" charset="0"/>
                <a:ea typeface="Calibri" pitchFamily="34" charset="-122"/>
                <a:cs typeface="Calibri" pitchFamily="34" charset="-120"/>
              </a:rPr>
              <a:t>Together, Parts and Actions form the basic sentence of interaction — noun and verb.</a:t>
            </a:r>
            <a:endParaRPr lang="en-US" sz="1400" dirty="0"/>
          </a:p>
        </p:txBody>
      </p:sp>
      <p:sp>
        <p:nvSpPr>
          <p:cNvPr id="5" name="Text 3"/>
          <p:cNvSpPr/>
          <p:nvPr/>
        </p:nvSpPr>
        <p:spPr>
          <a:xfrm>
            <a:off x="731520" y="4389120"/>
            <a:ext cx="7315200" cy="365760"/>
          </a:xfrm>
          <a:prstGeom prst="rect">
            <a:avLst/>
          </a:prstGeom>
          <a:noFill/>
          <a:ln/>
        </p:spPr>
        <p:txBody>
          <a:bodyPr wrap="square" lIns="0" tIns="0" rIns="0" bIns="0" rtlCol="0" anchor="ctr"/>
          <a:lstStyle/>
          <a:p>
            <a:pPr indent="0" marL="0">
              <a:buNone/>
            </a:pPr>
            <a:r>
              <a:rPr lang="en-US" sz="1100" i="1" dirty="0">
                <a:solidFill>
                  <a:srgbClr val="666666"/>
                </a:solidFill>
                <a:latin typeface="Calibri" pitchFamily="34" charset="0"/>
                <a:ea typeface="Calibri" pitchFamily="34" charset="-122"/>
                <a:cs typeface="Calibri" pitchFamily="34" charset="-120"/>
              </a:rPr>
              <a:t>Design question: What does your world remember? What does the participant cause?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731520" y="457200"/>
            <a:ext cx="1828800" cy="36576"/>
          </a:xfrm>
          <a:prstGeom prst="rect">
            <a:avLst/>
          </a:prstGeom>
          <a:solidFill>
            <a:srgbClr val="D4A853"/>
          </a:solidFill>
          <a:ln/>
        </p:spPr>
      </p:sp>
      <p:sp>
        <p:nvSpPr>
          <p:cNvPr id="3" name="Text 1"/>
          <p:cNvSpPr/>
          <p:nvPr/>
        </p:nvSpPr>
        <p:spPr>
          <a:xfrm>
            <a:off x="731520" y="594360"/>
            <a:ext cx="77724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Loops + Yields</a:t>
            </a:r>
            <a:endParaRPr lang="en-US" sz="2200" dirty="0"/>
          </a:p>
        </p:txBody>
      </p:sp>
      <p:sp>
        <p:nvSpPr>
          <p:cNvPr id="4" name="Text 2"/>
          <p:cNvSpPr/>
          <p:nvPr/>
        </p:nvSpPr>
        <p:spPr>
          <a:xfrm>
            <a:off x="731520" y="1280160"/>
            <a:ext cx="7498080" cy="2926080"/>
          </a:xfrm>
          <a:prstGeom prst="rect">
            <a:avLst/>
          </a:prstGeom>
          <a:noFill/>
          <a:ln/>
        </p:spPr>
        <p:txBody>
          <a:bodyPr wrap="square" lIns="0" tIns="0" rIns="0" bIns="0" rtlCol="0" anchor="t"/>
          <a:lstStyle/>
          <a:p>
            <a:pPr indent="0" marL="0">
              <a:lnSpc>
                <a:spcPct val="135000"/>
              </a:lnSpc>
              <a:buNone/>
            </a:pPr>
            <a:r>
              <a:rPr lang="en-US" sz="1400" b="1" dirty="0">
                <a:solidFill>
                  <a:srgbClr val="6B9EBF"/>
                </a:solidFill>
                <a:latin typeface="Calibri" pitchFamily="34" charset="0"/>
                <a:ea typeface="Calibri" pitchFamily="34" charset="-122"/>
                <a:cs typeface="Calibri" pitchFamily="34" charset="-120"/>
              </a:rPr>
              <a:t>Loops </a:t>
            </a:r>
            <a:pPr indent="0" marL="0">
              <a:lnSpc>
                <a:spcPct val="135000"/>
              </a:lnSpc>
              <a:buNone/>
            </a:pPr>
            <a:r>
              <a:rPr lang="en-US" sz="1400" dirty="0">
                <a:solidFill>
                  <a:srgbClr val="F0F0F0"/>
                </a:solidFill>
                <a:latin typeface="Calibri" pitchFamily="34" charset="0"/>
                <a:ea typeface="Calibri" pitchFamily="34" charset="-122"/>
                <a:cs typeface="Calibri" pitchFamily="34" charset="-120"/>
              </a:rPr>
              <a:t>— feedback, rhythm, dynamics. Action changes the world, the changed world changes the conditions for action. The system breathes. The participant is inside a cycle, not watching from outside.</a:t>
            </a:r>
            <a:endParaRPr lang="en-US" sz="1400" dirty="0"/>
          </a:p>
          <a:p>
            <a:pPr indent="0" marL="0">
              <a:lnSpc>
                <a:spcPct val="135000"/>
              </a:lnSpc>
              <a:buNone/>
            </a:pPr>
            <a:endParaRPr lang="en-US" sz="1400" dirty="0"/>
          </a:p>
          <a:p>
            <a:pPr indent="0" marL="0">
              <a:lnSpc>
                <a:spcPct val="135000"/>
              </a:lnSpc>
              <a:buNone/>
            </a:pPr>
            <a:r>
              <a:rPr lang="en-US" sz="1400" b="1" dirty="0">
                <a:solidFill>
                  <a:srgbClr val="C45C4A"/>
                </a:solidFill>
                <a:latin typeface="Calibri" pitchFamily="34" charset="0"/>
                <a:ea typeface="Calibri" pitchFamily="34" charset="-122"/>
                <a:cs typeface="Calibri" pitchFamily="34" charset="-120"/>
              </a:rPr>
              <a:t>Yields </a:t>
            </a:r>
            <a:pPr indent="0" marL="0">
              <a:lnSpc>
                <a:spcPct val="135000"/>
              </a:lnSpc>
              <a:buNone/>
            </a:pPr>
            <a:r>
              <a:rPr lang="en-US" sz="1400" dirty="0">
                <a:solidFill>
                  <a:srgbClr val="F0F0F0"/>
                </a:solidFill>
                <a:latin typeface="Calibri" pitchFamily="34" charset="0"/>
                <a:ea typeface="Calibri" pitchFamily="34" charset="-122"/>
                <a:cs typeface="Calibri" pitchFamily="34" charset="-120"/>
              </a:rPr>
              <a:t>— emergence. Multiple loops, multiple parts, multiple actions — and something appears that wasn't explicitly authored. The participant discovers a strategy you didn't plan. Two systems interact to produce a third behavior. This is the horizon: setting conditions for meaning to arise.</a:t>
            </a:r>
            <a:endParaRPr lang="en-US" sz="1400" dirty="0"/>
          </a:p>
        </p:txBody>
      </p:sp>
      <p:sp>
        <p:nvSpPr>
          <p:cNvPr id="5" name="Text 3"/>
          <p:cNvSpPr/>
          <p:nvPr/>
        </p:nvSpPr>
        <p:spPr>
          <a:xfrm>
            <a:off x="731520" y="4389120"/>
            <a:ext cx="7315200" cy="365760"/>
          </a:xfrm>
          <a:prstGeom prst="rect">
            <a:avLst/>
          </a:prstGeom>
          <a:noFill/>
          <a:ln/>
        </p:spPr>
        <p:txBody>
          <a:bodyPr wrap="square" lIns="0" tIns="0" rIns="0" bIns="0" rtlCol="0" anchor="ctr"/>
          <a:lstStyle/>
          <a:p>
            <a:pPr indent="0" marL="0">
              <a:buNone/>
            </a:pPr>
            <a:r>
              <a:rPr lang="en-US" sz="1100" i="1" dirty="0">
                <a:solidFill>
                  <a:srgbClr val="666666"/>
                </a:solidFill>
                <a:latin typeface="Calibri" pitchFamily="34" charset="0"/>
                <a:ea typeface="Calibri" pitchFamily="34" charset="-122"/>
                <a:cs typeface="Calibri" pitchFamily="34" charset="-120"/>
              </a:rPr>
              <a:t>Design question: What cycle is the participant caught in? What might happen that you didn't design?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731520" y="457200"/>
            <a:ext cx="7315200" cy="548640"/>
          </a:xfrm>
          <a:prstGeom prst="rect">
            <a:avLst/>
          </a:prstGeom>
          <a:noFill/>
          <a:ln/>
        </p:spPr>
        <p:txBody>
          <a:bodyPr wrap="square" lIns="0" tIns="0" rIns="0" bIns="0" rtlCol="0" anchor="ctr"/>
          <a:lstStyle/>
          <a:p>
            <a:pPr indent="0" marL="0">
              <a:buNone/>
            </a:pPr>
            <a:r>
              <a:rPr lang="en-US" sz="2200" b="1" spc="200" kern="0" dirty="0">
                <a:solidFill>
                  <a:srgbClr val="FFFFFF"/>
                </a:solidFill>
                <a:latin typeface="Calibri" pitchFamily="34" charset="0"/>
                <a:ea typeface="Calibri" pitchFamily="34" charset="-122"/>
                <a:cs typeface="Calibri" pitchFamily="34" charset="-120"/>
              </a:rPr>
              <a:t>PLAY AS A READING TOOL</a:t>
            </a:r>
            <a:endParaRPr lang="en-US" sz="2200" dirty="0"/>
          </a:p>
        </p:txBody>
      </p:sp>
      <p:sp>
        <p:nvSpPr>
          <p:cNvPr id="3" name="Shape 1"/>
          <p:cNvSpPr/>
          <p:nvPr/>
        </p:nvSpPr>
        <p:spPr>
          <a:xfrm>
            <a:off x="731520" y="1051560"/>
            <a:ext cx="1828800" cy="27432"/>
          </a:xfrm>
          <a:prstGeom prst="rect">
            <a:avLst/>
          </a:prstGeom>
          <a:solidFill>
            <a:srgbClr val="D4A853"/>
          </a:solidFill>
          <a:ln/>
        </p:spPr>
      </p:sp>
      <p:sp>
        <p:nvSpPr>
          <p:cNvPr id="4" name="Text 2"/>
          <p:cNvSpPr/>
          <p:nvPr/>
        </p:nvSpPr>
        <p:spPr>
          <a:xfrm>
            <a:off x="731520" y="1280160"/>
            <a:ext cx="7315200" cy="365760"/>
          </a:xfrm>
          <a:prstGeom prst="rect">
            <a:avLst/>
          </a:prstGeom>
          <a:noFill/>
          <a:ln/>
        </p:spPr>
        <p:txBody>
          <a:bodyPr wrap="square" lIns="0" tIns="0" rIns="0" bIns="0" rtlCol="0" anchor="ctr"/>
          <a:lstStyle/>
          <a:p>
            <a:pPr indent="0" marL="0">
              <a:buNone/>
            </a:pPr>
            <a:r>
              <a:rPr lang="en-US" sz="1400" dirty="0">
                <a:solidFill>
                  <a:srgbClr val="999999"/>
                </a:solidFill>
                <a:latin typeface="Calibri" pitchFamily="34" charset="0"/>
                <a:ea typeface="Calibri" pitchFamily="34" charset="-122"/>
                <a:cs typeface="Calibri" pitchFamily="34" charset="-120"/>
              </a:rPr>
              <a:t>Given any interactive work, ask:</a:t>
            </a:r>
            <a:endParaRPr lang="en-US" sz="1400" dirty="0"/>
          </a:p>
        </p:txBody>
      </p:sp>
      <p:sp>
        <p:nvSpPr>
          <p:cNvPr id="5" name="Text 3"/>
          <p:cNvSpPr/>
          <p:nvPr/>
        </p:nvSpPr>
        <p:spPr>
          <a:xfrm>
            <a:off x="731520" y="1920240"/>
            <a:ext cx="457200" cy="457200"/>
          </a:xfrm>
          <a:prstGeom prst="rect">
            <a:avLst/>
          </a:prstGeom>
          <a:noFill/>
          <a:ln/>
        </p:spPr>
        <p:txBody>
          <a:bodyPr wrap="square" lIns="0" tIns="0" rIns="0" bIns="0" rtlCol="0" anchor="ctr"/>
          <a:lstStyle/>
          <a:p>
            <a:pPr indent="0" marL="0">
              <a:buNone/>
            </a:pPr>
            <a:r>
              <a:rPr lang="en-US" sz="2200" b="1" dirty="0">
                <a:solidFill>
                  <a:srgbClr val="D4A853"/>
                </a:solidFill>
                <a:latin typeface="Calibri" pitchFamily="34" charset="0"/>
                <a:ea typeface="Calibri" pitchFamily="34" charset="-122"/>
                <a:cs typeface="Calibri" pitchFamily="34" charset="-120"/>
              </a:rPr>
              <a:t>P</a:t>
            </a:r>
            <a:endParaRPr lang="en-US" sz="2200" dirty="0"/>
          </a:p>
        </p:txBody>
      </p:sp>
      <p:sp>
        <p:nvSpPr>
          <p:cNvPr id="6" name="Text 4"/>
          <p:cNvSpPr/>
          <p:nvPr/>
        </p:nvSpPr>
        <p:spPr>
          <a:xfrm>
            <a:off x="1371600" y="1965960"/>
            <a:ext cx="6858000" cy="411480"/>
          </a:xfrm>
          <a:prstGeom prst="rect">
            <a:avLst/>
          </a:prstGeom>
          <a:noFill/>
          <a:ln/>
        </p:spPr>
        <p:txBody>
          <a:bodyPr wrap="square" lIns="0" tIns="0" rIns="0" bIns="0" rtlCol="0" anchor="ctr"/>
          <a:lstStyle/>
          <a:p>
            <a:pPr indent="0" marL="0">
              <a:buNone/>
            </a:pPr>
            <a:r>
              <a:rPr lang="en-US" sz="1400" dirty="0">
                <a:solidFill>
                  <a:srgbClr val="F0F0F0"/>
                </a:solidFill>
                <a:latin typeface="Calibri" pitchFamily="34" charset="0"/>
                <a:ea typeface="Calibri" pitchFamily="34" charset="-122"/>
                <a:cs typeface="Calibri" pitchFamily="34" charset="-120"/>
              </a:rPr>
              <a:t>What are the Parts? What does the world track?</a:t>
            </a:r>
            <a:endParaRPr lang="en-US" sz="1400" dirty="0"/>
          </a:p>
        </p:txBody>
      </p:sp>
      <p:sp>
        <p:nvSpPr>
          <p:cNvPr id="7" name="Text 5"/>
          <p:cNvSpPr/>
          <p:nvPr/>
        </p:nvSpPr>
        <p:spPr>
          <a:xfrm>
            <a:off x="731520" y="2560320"/>
            <a:ext cx="457200" cy="457200"/>
          </a:xfrm>
          <a:prstGeom prst="rect">
            <a:avLst/>
          </a:prstGeom>
          <a:noFill/>
          <a:ln/>
        </p:spPr>
        <p:txBody>
          <a:bodyPr wrap="square" lIns="0" tIns="0" rIns="0" bIns="0" rtlCol="0" anchor="ctr"/>
          <a:lstStyle/>
          <a:p>
            <a:pPr indent="0" marL="0">
              <a:buNone/>
            </a:pPr>
            <a:r>
              <a:rPr lang="en-US" sz="2200" b="1" dirty="0">
                <a:solidFill>
                  <a:srgbClr val="6B9EBF"/>
                </a:solidFill>
                <a:latin typeface="Calibri" pitchFamily="34" charset="0"/>
                <a:ea typeface="Calibri" pitchFamily="34" charset="-122"/>
                <a:cs typeface="Calibri" pitchFamily="34" charset="-120"/>
              </a:rPr>
              <a:t>A</a:t>
            </a:r>
            <a:endParaRPr lang="en-US" sz="2200" dirty="0"/>
          </a:p>
        </p:txBody>
      </p:sp>
      <p:sp>
        <p:nvSpPr>
          <p:cNvPr id="8" name="Text 6"/>
          <p:cNvSpPr/>
          <p:nvPr/>
        </p:nvSpPr>
        <p:spPr>
          <a:xfrm>
            <a:off x="1371600" y="2606040"/>
            <a:ext cx="6858000" cy="411480"/>
          </a:xfrm>
          <a:prstGeom prst="rect">
            <a:avLst/>
          </a:prstGeom>
          <a:noFill/>
          <a:ln/>
        </p:spPr>
        <p:txBody>
          <a:bodyPr wrap="square" lIns="0" tIns="0" rIns="0" bIns="0" rtlCol="0" anchor="ctr"/>
          <a:lstStyle/>
          <a:p>
            <a:pPr indent="0" marL="0">
              <a:buNone/>
            </a:pPr>
            <a:r>
              <a:rPr lang="en-US" sz="1400" dirty="0">
                <a:solidFill>
                  <a:srgbClr val="F0F0F0"/>
                </a:solidFill>
                <a:latin typeface="Calibri" pitchFamily="34" charset="0"/>
                <a:ea typeface="Calibri" pitchFamily="34" charset="-122"/>
                <a:cs typeface="Calibri" pitchFamily="34" charset="-120"/>
              </a:rPr>
              <a:t>What Actions exist? What can the participant cause?</a:t>
            </a:r>
            <a:endParaRPr lang="en-US" sz="1400" dirty="0"/>
          </a:p>
        </p:txBody>
      </p:sp>
      <p:sp>
        <p:nvSpPr>
          <p:cNvPr id="9" name="Text 7"/>
          <p:cNvSpPr/>
          <p:nvPr/>
        </p:nvSpPr>
        <p:spPr>
          <a:xfrm>
            <a:off x="731520" y="3200400"/>
            <a:ext cx="457200" cy="457200"/>
          </a:xfrm>
          <a:prstGeom prst="rect">
            <a:avLst/>
          </a:prstGeom>
          <a:noFill/>
          <a:ln/>
        </p:spPr>
        <p:txBody>
          <a:bodyPr wrap="square" lIns="0" tIns="0" rIns="0" bIns="0" rtlCol="0" anchor="ctr"/>
          <a:lstStyle/>
          <a:p>
            <a:pPr indent="0" marL="0">
              <a:buNone/>
            </a:pPr>
            <a:r>
              <a:rPr lang="en-US" sz="2200" b="1" dirty="0">
                <a:solidFill>
                  <a:srgbClr val="6B9EBF"/>
                </a:solidFill>
                <a:latin typeface="Calibri" pitchFamily="34" charset="0"/>
                <a:ea typeface="Calibri" pitchFamily="34" charset="-122"/>
                <a:cs typeface="Calibri" pitchFamily="34" charset="-120"/>
              </a:rPr>
              <a:t>L</a:t>
            </a:r>
            <a:endParaRPr lang="en-US" sz="2200" dirty="0"/>
          </a:p>
        </p:txBody>
      </p:sp>
      <p:sp>
        <p:nvSpPr>
          <p:cNvPr id="10" name="Text 8"/>
          <p:cNvSpPr/>
          <p:nvPr/>
        </p:nvSpPr>
        <p:spPr>
          <a:xfrm>
            <a:off x="1371600" y="3246120"/>
            <a:ext cx="6858000" cy="411480"/>
          </a:xfrm>
          <a:prstGeom prst="rect">
            <a:avLst/>
          </a:prstGeom>
          <a:noFill/>
          <a:ln/>
        </p:spPr>
        <p:txBody>
          <a:bodyPr wrap="square" lIns="0" tIns="0" rIns="0" bIns="0" rtlCol="0" anchor="ctr"/>
          <a:lstStyle/>
          <a:p>
            <a:pPr indent="0" marL="0">
              <a:buNone/>
            </a:pPr>
            <a:r>
              <a:rPr lang="en-US" sz="1400" dirty="0">
                <a:solidFill>
                  <a:srgbClr val="F0F0F0"/>
                </a:solidFill>
                <a:latin typeface="Calibri" pitchFamily="34" charset="0"/>
                <a:ea typeface="Calibri" pitchFamily="34" charset="-122"/>
                <a:cs typeface="Calibri" pitchFamily="34" charset="-120"/>
              </a:rPr>
              <a:t>Where are the Loops? What cycles sustain themselves?</a:t>
            </a:r>
            <a:endParaRPr lang="en-US" sz="1400" dirty="0"/>
          </a:p>
        </p:txBody>
      </p:sp>
      <p:sp>
        <p:nvSpPr>
          <p:cNvPr id="11" name="Text 9"/>
          <p:cNvSpPr/>
          <p:nvPr/>
        </p:nvSpPr>
        <p:spPr>
          <a:xfrm>
            <a:off x="731520" y="3840480"/>
            <a:ext cx="457200" cy="457200"/>
          </a:xfrm>
          <a:prstGeom prst="rect">
            <a:avLst/>
          </a:prstGeom>
          <a:noFill/>
          <a:ln/>
        </p:spPr>
        <p:txBody>
          <a:bodyPr wrap="square" lIns="0" tIns="0" rIns="0" bIns="0" rtlCol="0" anchor="ctr"/>
          <a:lstStyle/>
          <a:p>
            <a:pPr indent="0" marL="0">
              <a:buNone/>
            </a:pPr>
            <a:r>
              <a:rPr lang="en-US" sz="2200" b="1" dirty="0">
                <a:solidFill>
                  <a:srgbClr val="C45C4A"/>
                </a:solidFill>
                <a:latin typeface="Calibri" pitchFamily="34" charset="0"/>
                <a:ea typeface="Calibri" pitchFamily="34" charset="-122"/>
                <a:cs typeface="Calibri" pitchFamily="34" charset="-120"/>
              </a:rPr>
              <a:t>Y</a:t>
            </a:r>
            <a:endParaRPr lang="en-US" sz="2200" dirty="0"/>
          </a:p>
        </p:txBody>
      </p:sp>
      <p:sp>
        <p:nvSpPr>
          <p:cNvPr id="12" name="Text 10"/>
          <p:cNvSpPr/>
          <p:nvPr/>
        </p:nvSpPr>
        <p:spPr>
          <a:xfrm>
            <a:off x="1371600" y="3886200"/>
            <a:ext cx="6858000" cy="411480"/>
          </a:xfrm>
          <a:prstGeom prst="rect">
            <a:avLst/>
          </a:prstGeom>
          <a:noFill/>
          <a:ln/>
        </p:spPr>
        <p:txBody>
          <a:bodyPr wrap="square" lIns="0" tIns="0" rIns="0" bIns="0" rtlCol="0" anchor="ctr"/>
          <a:lstStyle/>
          <a:p>
            <a:pPr indent="0" marL="0">
              <a:buNone/>
            </a:pPr>
            <a:r>
              <a:rPr lang="en-US" sz="1400" dirty="0">
                <a:solidFill>
                  <a:srgbClr val="F0F0F0"/>
                </a:solidFill>
                <a:latin typeface="Calibri" pitchFamily="34" charset="0"/>
                <a:ea typeface="Calibri" pitchFamily="34" charset="-122"/>
                <a:cs typeface="Calibri" pitchFamily="34" charset="-120"/>
              </a:rPr>
              <a:t>What Yields? What emerges beyond what was scripted?</a:t>
            </a:r>
            <a:endParaRPr lang="en-US" sz="1400" dirty="0"/>
          </a:p>
        </p:txBody>
      </p:sp>
      <p:sp>
        <p:nvSpPr>
          <p:cNvPr id="13" name="Text 11"/>
          <p:cNvSpPr/>
          <p:nvPr/>
        </p:nvSpPr>
        <p:spPr>
          <a:xfrm>
            <a:off x="731520" y="4389120"/>
            <a:ext cx="7315200" cy="365760"/>
          </a:xfrm>
          <a:prstGeom prst="rect">
            <a:avLst/>
          </a:prstGeom>
          <a:noFill/>
          <a:ln/>
        </p:spPr>
        <p:txBody>
          <a:bodyPr wrap="square" lIns="0" tIns="0" rIns="0" bIns="0" rtlCol="0" anchor="ctr"/>
          <a:lstStyle/>
          <a:p>
            <a:pPr indent="0" marL="0">
              <a:buNone/>
            </a:pPr>
            <a:r>
              <a:rPr lang="en-US" sz="1100" i="1" dirty="0">
                <a:solidFill>
                  <a:srgbClr val="666666"/>
                </a:solidFill>
                <a:latin typeface="Calibri" pitchFamily="34" charset="0"/>
                <a:ea typeface="Calibri" pitchFamily="34" charset="-122"/>
                <a:cs typeface="Calibri" pitchFamily="34" charset="-120"/>
              </a:rPr>
              <a:t>This is how you analyze before you build.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B9EBF"/>
          </a:solidFill>
          <a:ln/>
        </p:spPr>
      </p:sp>
      <p:sp>
        <p:nvSpPr>
          <p:cNvPr id="3" name="Text 1"/>
          <p:cNvSpPr/>
          <p:nvPr/>
        </p:nvSpPr>
        <p:spPr>
          <a:xfrm>
            <a:off x="731520" y="1645920"/>
            <a:ext cx="7315200" cy="914400"/>
          </a:xfrm>
          <a:prstGeom prst="rect">
            <a:avLst/>
          </a:prstGeom>
          <a:noFill/>
          <a:ln/>
        </p:spPr>
        <p:txBody>
          <a:bodyPr wrap="square" lIns="0" tIns="0" rIns="0" bIns="0" rtlCol="0" anchor="ctr"/>
          <a:lstStyle/>
          <a:p>
            <a:pPr indent="0" marL="0">
              <a:buNone/>
            </a:pPr>
            <a:r>
              <a:rPr lang="en-US" sz="3200" b="1" spc="300" kern="0" dirty="0">
                <a:solidFill>
                  <a:srgbClr val="FFFFFF"/>
                </a:solidFill>
                <a:latin typeface="Calibri" pitchFamily="34" charset="0"/>
                <a:ea typeface="Calibri" pitchFamily="34" charset="-122"/>
                <a:cs typeface="Calibri" pitchFamily="34" charset="-120"/>
              </a:rPr>
              <a:t>VOCABULARY</a:t>
            </a:r>
            <a:endParaRPr lang="en-US" sz="3200" dirty="0"/>
          </a:p>
        </p:txBody>
      </p:sp>
      <p:sp>
        <p:nvSpPr>
          <p:cNvPr id="4" name="Text 2"/>
          <p:cNvSpPr/>
          <p:nvPr/>
        </p:nvSpPr>
        <p:spPr>
          <a:xfrm>
            <a:off x="731520" y="2651760"/>
            <a:ext cx="7315200" cy="548640"/>
          </a:xfrm>
          <a:prstGeom prst="rect">
            <a:avLst/>
          </a:prstGeom>
          <a:noFill/>
          <a:ln/>
        </p:spPr>
        <p:txBody>
          <a:bodyPr wrap="square" lIns="0" tIns="0" rIns="0" bIns="0" rtlCol="0" anchor="ctr"/>
          <a:lstStyle/>
          <a:p>
            <a:pPr indent="0" marL="0">
              <a:buNone/>
            </a:pPr>
            <a:r>
              <a:rPr lang="en-US" sz="1400" dirty="0">
                <a:solidFill>
                  <a:srgbClr val="999999"/>
                </a:solidFill>
                <a:latin typeface="Calibri" pitchFamily="34" charset="0"/>
                <a:ea typeface="Calibri" pitchFamily="34" charset="-122"/>
                <a:cs typeface="Calibri" pitchFamily="34" charset="-120"/>
              </a:rPr>
              <a:t>What the participant acts upon. Ten areas of interactive expression.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411480"/>
            <a:ext cx="548640" cy="502920"/>
          </a:xfrm>
          <a:prstGeom prst="rect">
            <a:avLst/>
          </a:prstGeom>
          <a:noFill/>
          <a:ln/>
        </p:spPr>
        <p:txBody>
          <a:bodyPr wrap="square" lIns="0" tIns="0" rIns="0" bIns="0" rtlCol="0" anchor="ctr"/>
          <a:lstStyle/>
          <a:p>
            <a:pPr indent="0" marL="0">
              <a:buNone/>
            </a:pPr>
            <a:r>
              <a:rPr lang="en-US" sz="2800" b="1" dirty="0">
                <a:solidFill>
                  <a:srgbClr val="D4A853"/>
                </a:solidFill>
                <a:latin typeface="Calibri" pitchFamily="34" charset="0"/>
                <a:ea typeface="Calibri" pitchFamily="34" charset="-122"/>
                <a:cs typeface="Calibri" pitchFamily="34" charset="-120"/>
              </a:rPr>
              <a:t>01</a:t>
            </a:r>
            <a:endParaRPr lang="en-US" sz="2800" dirty="0"/>
          </a:p>
        </p:txBody>
      </p:sp>
      <p:sp>
        <p:nvSpPr>
          <p:cNvPr id="3" name="Text 1"/>
          <p:cNvSpPr/>
          <p:nvPr/>
        </p:nvSpPr>
        <p:spPr>
          <a:xfrm>
            <a:off x="1371600" y="438912"/>
            <a:ext cx="68580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Objects</a:t>
            </a:r>
            <a:endParaRPr lang="en-US" sz="2400" dirty="0"/>
          </a:p>
        </p:txBody>
      </p:sp>
      <p:sp>
        <p:nvSpPr>
          <p:cNvPr id="4" name="Shape 2"/>
          <p:cNvSpPr/>
          <p:nvPr/>
        </p:nvSpPr>
        <p:spPr>
          <a:xfrm>
            <a:off x="731520" y="1051560"/>
            <a:ext cx="3200400" cy="27432"/>
          </a:xfrm>
          <a:prstGeom prst="rect">
            <a:avLst/>
          </a:prstGeom>
          <a:solidFill>
            <a:srgbClr val="D4A853"/>
          </a:solidFill>
          <a:ln/>
        </p:spPr>
      </p:sp>
      <p:sp>
        <p:nvSpPr>
          <p:cNvPr id="5" name="Text 3"/>
          <p:cNvSpPr/>
          <p:nvPr/>
        </p:nvSpPr>
        <p:spPr>
          <a:xfrm>
            <a:off x="731520" y="1280160"/>
            <a:ext cx="7498080" cy="1188720"/>
          </a:xfrm>
          <a:prstGeom prst="rect">
            <a:avLst/>
          </a:prstGeom>
          <a:noFill/>
          <a:ln/>
        </p:spPr>
        <p:txBody>
          <a:bodyPr wrap="square" lIns="0" tIns="0" rIns="0" bIns="0" rtlCol="0" anchor="t"/>
          <a:lstStyle/>
          <a:p>
            <a:pPr indent="0" marL="0">
              <a:lnSpc>
                <a:spcPct val="140000"/>
              </a:lnSpc>
              <a:buNone/>
            </a:pPr>
            <a:r>
              <a:rPr lang="en-US" sz="1400" dirty="0">
                <a:solidFill>
                  <a:srgbClr val="F0F0F0"/>
                </a:solidFill>
                <a:latin typeface="Calibri" pitchFamily="34" charset="0"/>
                <a:ea typeface="Calibri" pitchFamily="34" charset="-122"/>
                <a:cs typeface="Calibri" pitchFamily="34" charset="-120"/>
              </a:rPr>
              <a:t>The most atomic building block of interaction. Making things appear, move, change, vanish. Transforms, spawning, destroying, enabling and disabling, resetting. Every interactive system begins here — before complexity, before narration, there is the simple act of affecting a thing in space.</a:t>
            </a:r>
            <a:endParaRPr lang="en-US" sz="1400" dirty="0"/>
          </a:p>
        </p:txBody>
      </p:sp>
      <p:sp>
        <p:nvSpPr>
          <p:cNvPr id="6" name="Shape 4"/>
          <p:cNvSpPr/>
          <p:nvPr/>
        </p:nvSpPr>
        <p:spPr>
          <a:xfrm>
            <a:off x="731520" y="2651760"/>
            <a:ext cx="1097280" cy="320040"/>
          </a:xfrm>
          <a:prstGeom prst="rect">
            <a:avLst/>
          </a:prstGeom>
          <a:solidFill>
            <a:srgbClr val="2A2A2A"/>
          </a:solidFill>
          <a:ln/>
        </p:spPr>
      </p:sp>
      <p:sp>
        <p:nvSpPr>
          <p:cNvPr id="7" name="Text 5"/>
          <p:cNvSpPr/>
          <p:nvPr/>
        </p:nvSpPr>
        <p:spPr>
          <a:xfrm>
            <a:off x="731520" y="2651760"/>
            <a:ext cx="1097280"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Transforms</a:t>
            </a:r>
            <a:endParaRPr lang="en-US" sz="1000" dirty="0"/>
          </a:p>
        </p:txBody>
      </p:sp>
      <p:sp>
        <p:nvSpPr>
          <p:cNvPr id="8" name="Shape 6"/>
          <p:cNvSpPr/>
          <p:nvPr/>
        </p:nvSpPr>
        <p:spPr>
          <a:xfrm>
            <a:off x="1965960" y="2651760"/>
            <a:ext cx="1508760" cy="320040"/>
          </a:xfrm>
          <a:prstGeom prst="rect">
            <a:avLst/>
          </a:prstGeom>
          <a:solidFill>
            <a:srgbClr val="2A2A2A"/>
          </a:solidFill>
          <a:ln/>
        </p:spPr>
      </p:sp>
      <p:sp>
        <p:nvSpPr>
          <p:cNvPr id="9" name="Text 7"/>
          <p:cNvSpPr/>
          <p:nvPr/>
        </p:nvSpPr>
        <p:spPr>
          <a:xfrm>
            <a:off x="1965960" y="2651760"/>
            <a:ext cx="1508760"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Spawn / Destroy</a:t>
            </a:r>
            <a:endParaRPr lang="en-US" sz="1000" dirty="0"/>
          </a:p>
        </p:txBody>
      </p:sp>
      <p:sp>
        <p:nvSpPr>
          <p:cNvPr id="10" name="Shape 8"/>
          <p:cNvSpPr/>
          <p:nvPr/>
        </p:nvSpPr>
        <p:spPr>
          <a:xfrm>
            <a:off x="3611880" y="2651760"/>
            <a:ext cx="1591056" cy="320040"/>
          </a:xfrm>
          <a:prstGeom prst="rect">
            <a:avLst/>
          </a:prstGeom>
          <a:solidFill>
            <a:srgbClr val="2A2A2A"/>
          </a:solidFill>
          <a:ln/>
        </p:spPr>
      </p:sp>
      <p:sp>
        <p:nvSpPr>
          <p:cNvPr id="11" name="Text 9"/>
          <p:cNvSpPr/>
          <p:nvPr/>
        </p:nvSpPr>
        <p:spPr>
          <a:xfrm>
            <a:off x="3611880" y="2651760"/>
            <a:ext cx="1591056"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Enable / Disable</a:t>
            </a:r>
            <a:endParaRPr lang="en-US" sz="1000" dirty="0"/>
          </a:p>
        </p:txBody>
      </p:sp>
      <p:sp>
        <p:nvSpPr>
          <p:cNvPr id="12" name="Shape 10"/>
          <p:cNvSpPr/>
          <p:nvPr/>
        </p:nvSpPr>
        <p:spPr>
          <a:xfrm>
            <a:off x="5340096" y="2651760"/>
            <a:ext cx="914400" cy="320040"/>
          </a:xfrm>
          <a:prstGeom prst="rect">
            <a:avLst/>
          </a:prstGeom>
          <a:solidFill>
            <a:srgbClr val="2A2A2A"/>
          </a:solidFill>
          <a:ln/>
        </p:spPr>
      </p:sp>
      <p:sp>
        <p:nvSpPr>
          <p:cNvPr id="13" name="Text 11"/>
          <p:cNvSpPr/>
          <p:nvPr/>
        </p:nvSpPr>
        <p:spPr>
          <a:xfrm>
            <a:off x="5340096" y="2651760"/>
            <a:ext cx="914400"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Reset</a:t>
            </a:r>
            <a:endParaRPr lang="en-US" sz="1000" dirty="0"/>
          </a:p>
        </p:txBody>
      </p:sp>
      <p:sp>
        <p:nvSpPr>
          <p:cNvPr id="14" name="Shape 12"/>
          <p:cNvSpPr/>
          <p:nvPr/>
        </p:nvSpPr>
        <p:spPr>
          <a:xfrm>
            <a:off x="731520" y="3840480"/>
            <a:ext cx="7498080" cy="502920"/>
          </a:xfrm>
          <a:prstGeom prst="rect">
            <a:avLst/>
          </a:prstGeom>
          <a:solidFill>
            <a:srgbClr val="1A1A1A"/>
          </a:solidFill>
          <a:ln/>
        </p:spPr>
      </p:sp>
      <p:sp>
        <p:nvSpPr>
          <p:cNvPr id="15" name="Text 13"/>
          <p:cNvSpPr/>
          <p:nvPr/>
        </p:nvSpPr>
        <p:spPr>
          <a:xfrm>
            <a:off x="914400" y="3840480"/>
            <a:ext cx="7132320" cy="5029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Design question: </a:t>
            </a:r>
            <a:pPr indent="0" marL="0">
              <a:buNone/>
            </a:pPr>
            <a:r>
              <a:rPr lang="en-US" sz="1200" i="1" dirty="0">
                <a:solidFill>
                  <a:srgbClr val="D4A853"/>
                </a:solidFill>
                <a:latin typeface="Calibri" pitchFamily="34" charset="0"/>
                <a:ea typeface="Calibri" pitchFamily="34" charset="-122"/>
                <a:cs typeface="Calibri" pitchFamily="34" charset="-120"/>
              </a:rPr>
              <a:t>What is the simplest thing the participant can change?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411480"/>
            <a:ext cx="548640" cy="502920"/>
          </a:xfrm>
          <a:prstGeom prst="rect">
            <a:avLst/>
          </a:prstGeom>
          <a:noFill/>
          <a:ln/>
        </p:spPr>
        <p:txBody>
          <a:bodyPr wrap="square" lIns="0" tIns="0" rIns="0" bIns="0" rtlCol="0" anchor="ctr"/>
          <a:lstStyle/>
          <a:p>
            <a:pPr indent="0" marL="0">
              <a:buNone/>
            </a:pPr>
            <a:r>
              <a:rPr lang="en-US" sz="2800" b="1" dirty="0">
                <a:solidFill>
                  <a:srgbClr val="D4A853"/>
                </a:solidFill>
                <a:latin typeface="Calibri" pitchFamily="34" charset="0"/>
                <a:ea typeface="Calibri" pitchFamily="34" charset="-122"/>
                <a:cs typeface="Calibri" pitchFamily="34" charset="-120"/>
              </a:rPr>
              <a:t>02</a:t>
            </a:r>
            <a:endParaRPr lang="en-US" sz="2800" dirty="0"/>
          </a:p>
        </p:txBody>
      </p:sp>
      <p:sp>
        <p:nvSpPr>
          <p:cNvPr id="3" name="Text 1"/>
          <p:cNvSpPr/>
          <p:nvPr/>
        </p:nvSpPr>
        <p:spPr>
          <a:xfrm>
            <a:off x="1371600" y="438912"/>
            <a:ext cx="68580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Environment</a:t>
            </a:r>
            <a:endParaRPr lang="en-US" sz="2400" dirty="0"/>
          </a:p>
        </p:txBody>
      </p:sp>
      <p:sp>
        <p:nvSpPr>
          <p:cNvPr id="4" name="Shape 2"/>
          <p:cNvSpPr/>
          <p:nvPr/>
        </p:nvSpPr>
        <p:spPr>
          <a:xfrm>
            <a:off x="731520" y="1051560"/>
            <a:ext cx="3200400" cy="27432"/>
          </a:xfrm>
          <a:prstGeom prst="rect">
            <a:avLst/>
          </a:prstGeom>
          <a:solidFill>
            <a:srgbClr val="D4A853"/>
          </a:solidFill>
          <a:ln/>
        </p:spPr>
      </p:sp>
      <p:sp>
        <p:nvSpPr>
          <p:cNvPr id="5" name="Text 3"/>
          <p:cNvSpPr/>
          <p:nvPr/>
        </p:nvSpPr>
        <p:spPr>
          <a:xfrm>
            <a:off x="731520" y="1280160"/>
            <a:ext cx="7498080" cy="1188720"/>
          </a:xfrm>
          <a:prstGeom prst="rect">
            <a:avLst/>
          </a:prstGeom>
          <a:noFill/>
          <a:ln/>
        </p:spPr>
        <p:txBody>
          <a:bodyPr wrap="square" lIns="0" tIns="0" rIns="0" bIns="0" rtlCol="0" anchor="t"/>
          <a:lstStyle/>
          <a:p>
            <a:pPr indent="0" marL="0">
              <a:lnSpc>
                <a:spcPct val="140000"/>
              </a:lnSpc>
              <a:buNone/>
            </a:pPr>
            <a:r>
              <a:rPr lang="en-US" sz="1400" dirty="0">
                <a:solidFill>
                  <a:srgbClr val="F0F0F0"/>
                </a:solidFill>
                <a:latin typeface="Calibri" pitchFamily="34" charset="0"/>
                <a:ea typeface="Calibri" pitchFamily="34" charset="-122"/>
                <a:cs typeface="Calibri" pitchFamily="34" charset="-120"/>
              </a:rPr>
              <a:t>The space itself as responsive material. Changing light, color, fog, skybox, weather, ambiance, world-state. Toggling and interpolating properties on scene-wide systems rather than individual objects. The environment is not decoration — it is the first layer of agency: where can I go? What draws me? What feels forbidden?</a:t>
            </a:r>
            <a:endParaRPr lang="en-US" sz="1400" dirty="0"/>
          </a:p>
        </p:txBody>
      </p:sp>
      <p:sp>
        <p:nvSpPr>
          <p:cNvPr id="6" name="Shape 4"/>
          <p:cNvSpPr/>
          <p:nvPr/>
        </p:nvSpPr>
        <p:spPr>
          <a:xfrm>
            <a:off x="731520" y="2651760"/>
            <a:ext cx="932688" cy="320040"/>
          </a:xfrm>
          <a:prstGeom prst="rect">
            <a:avLst/>
          </a:prstGeom>
          <a:solidFill>
            <a:srgbClr val="2A2A2A"/>
          </a:solidFill>
          <a:ln/>
        </p:spPr>
      </p:sp>
      <p:sp>
        <p:nvSpPr>
          <p:cNvPr id="7" name="Text 5"/>
          <p:cNvSpPr/>
          <p:nvPr/>
        </p:nvSpPr>
        <p:spPr>
          <a:xfrm>
            <a:off x="731520" y="2651760"/>
            <a:ext cx="932688"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Lighting</a:t>
            </a:r>
            <a:endParaRPr lang="en-US" sz="1000" dirty="0"/>
          </a:p>
        </p:txBody>
      </p:sp>
      <p:sp>
        <p:nvSpPr>
          <p:cNvPr id="8" name="Shape 6"/>
          <p:cNvSpPr/>
          <p:nvPr/>
        </p:nvSpPr>
        <p:spPr>
          <a:xfrm>
            <a:off x="1801368" y="2651760"/>
            <a:ext cx="1591056" cy="320040"/>
          </a:xfrm>
          <a:prstGeom prst="rect">
            <a:avLst/>
          </a:prstGeom>
          <a:solidFill>
            <a:srgbClr val="2A2A2A"/>
          </a:solidFill>
          <a:ln/>
        </p:spPr>
      </p:sp>
      <p:sp>
        <p:nvSpPr>
          <p:cNvPr id="9" name="Text 7"/>
          <p:cNvSpPr/>
          <p:nvPr/>
        </p:nvSpPr>
        <p:spPr>
          <a:xfrm>
            <a:off x="1801368" y="2651760"/>
            <a:ext cx="1591056"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Fog / Atmosphere</a:t>
            </a:r>
            <a:endParaRPr lang="en-US" sz="1000" dirty="0"/>
          </a:p>
        </p:txBody>
      </p:sp>
      <p:sp>
        <p:nvSpPr>
          <p:cNvPr id="10" name="Shape 8"/>
          <p:cNvSpPr/>
          <p:nvPr/>
        </p:nvSpPr>
        <p:spPr>
          <a:xfrm>
            <a:off x="3529584" y="2651760"/>
            <a:ext cx="914400" cy="320040"/>
          </a:xfrm>
          <a:prstGeom prst="rect">
            <a:avLst/>
          </a:prstGeom>
          <a:solidFill>
            <a:srgbClr val="2A2A2A"/>
          </a:solidFill>
          <a:ln/>
        </p:spPr>
      </p:sp>
      <p:sp>
        <p:nvSpPr>
          <p:cNvPr id="11" name="Text 9"/>
          <p:cNvSpPr/>
          <p:nvPr/>
        </p:nvSpPr>
        <p:spPr>
          <a:xfrm>
            <a:off x="3529584" y="2651760"/>
            <a:ext cx="914400"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Skybox</a:t>
            </a:r>
            <a:endParaRPr lang="en-US" sz="1000" dirty="0"/>
          </a:p>
        </p:txBody>
      </p:sp>
      <p:sp>
        <p:nvSpPr>
          <p:cNvPr id="12" name="Shape 10"/>
          <p:cNvSpPr/>
          <p:nvPr/>
        </p:nvSpPr>
        <p:spPr>
          <a:xfrm>
            <a:off x="4581144" y="2651760"/>
            <a:ext cx="1508760" cy="320040"/>
          </a:xfrm>
          <a:prstGeom prst="rect">
            <a:avLst/>
          </a:prstGeom>
          <a:solidFill>
            <a:srgbClr val="2A2A2A"/>
          </a:solidFill>
          <a:ln/>
        </p:spPr>
      </p:sp>
      <p:sp>
        <p:nvSpPr>
          <p:cNvPr id="13" name="Text 11"/>
          <p:cNvSpPr/>
          <p:nvPr/>
        </p:nvSpPr>
        <p:spPr>
          <a:xfrm>
            <a:off x="4581144" y="2651760"/>
            <a:ext cx="1508760"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Post-processing</a:t>
            </a:r>
            <a:endParaRPr lang="en-US" sz="1000" dirty="0"/>
          </a:p>
        </p:txBody>
      </p:sp>
      <p:sp>
        <p:nvSpPr>
          <p:cNvPr id="14" name="Shape 12"/>
          <p:cNvSpPr/>
          <p:nvPr/>
        </p:nvSpPr>
        <p:spPr>
          <a:xfrm>
            <a:off x="6227064" y="2651760"/>
            <a:ext cx="914400" cy="320040"/>
          </a:xfrm>
          <a:prstGeom prst="rect">
            <a:avLst/>
          </a:prstGeom>
          <a:solidFill>
            <a:srgbClr val="2A2A2A"/>
          </a:solidFill>
          <a:ln/>
        </p:spPr>
      </p:sp>
      <p:sp>
        <p:nvSpPr>
          <p:cNvPr id="15" name="Text 13"/>
          <p:cNvSpPr/>
          <p:nvPr/>
        </p:nvSpPr>
        <p:spPr>
          <a:xfrm>
            <a:off x="6227064" y="2651760"/>
            <a:ext cx="914400"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Weather</a:t>
            </a:r>
            <a:endParaRPr lang="en-US" sz="1000" dirty="0"/>
          </a:p>
        </p:txBody>
      </p:sp>
      <p:sp>
        <p:nvSpPr>
          <p:cNvPr id="16" name="Shape 14"/>
          <p:cNvSpPr/>
          <p:nvPr/>
        </p:nvSpPr>
        <p:spPr>
          <a:xfrm>
            <a:off x="731520" y="3840480"/>
            <a:ext cx="7498080" cy="502920"/>
          </a:xfrm>
          <a:prstGeom prst="rect">
            <a:avLst/>
          </a:prstGeom>
          <a:solidFill>
            <a:srgbClr val="1A1A1A"/>
          </a:solidFill>
          <a:ln/>
        </p:spPr>
      </p:sp>
      <p:sp>
        <p:nvSpPr>
          <p:cNvPr id="17" name="Text 15"/>
          <p:cNvSpPr/>
          <p:nvPr/>
        </p:nvSpPr>
        <p:spPr>
          <a:xfrm>
            <a:off x="914400" y="3840480"/>
            <a:ext cx="7132320" cy="5029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Design question: </a:t>
            </a:r>
            <a:pPr indent="0" marL="0">
              <a:buNone/>
            </a:pPr>
            <a:r>
              <a:rPr lang="en-US" sz="1200" i="1" dirty="0">
                <a:solidFill>
                  <a:srgbClr val="D4A853"/>
                </a:solidFill>
                <a:latin typeface="Calibri" pitchFamily="34" charset="0"/>
                <a:ea typeface="Calibri" pitchFamily="34" charset="-122"/>
                <a:cs typeface="Calibri" pitchFamily="34" charset="-120"/>
              </a:rPr>
              <a:t>How does the world feel different after the participant acts?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411480"/>
            <a:ext cx="548640" cy="502920"/>
          </a:xfrm>
          <a:prstGeom prst="rect">
            <a:avLst/>
          </a:prstGeom>
          <a:noFill/>
          <a:ln/>
        </p:spPr>
        <p:txBody>
          <a:bodyPr wrap="square" lIns="0" tIns="0" rIns="0" bIns="0" rtlCol="0" anchor="ctr"/>
          <a:lstStyle/>
          <a:p>
            <a:pPr indent="0" marL="0">
              <a:buNone/>
            </a:pPr>
            <a:r>
              <a:rPr lang="en-US" sz="2800" b="1" dirty="0">
                <a:solidFill>
                  <a:srgbClr val="D4A853"/>
                </a:solidFill>
                <a:latin typeface="Calibri" pitchFamily="34" charset="0"/>
                <a:ea typeface="Calibri" pitchFamily="34" charset="-122"/>
                <a:cs typeface="Calibri" pitchFamily="34" charset="-120"/>
              </a:rPr>
              <a:t>03</a:t>
            </a:r>
            <a:endParaRPr lang="en-US" sz="2800" dirty="0"/>
          </a:p>
        </p:txBody>
      </p:sp>
      <p:sp>
        <p:nvSpPr>
          <p:cNvPr id="3" name="Text 1"/>
          <p:cNvSpPr/>
          <p:nvPr/>
        </p:nvSpPr>
        <p:spPr>
          <a:xfrm>
            <a:off x="1371600" y="438912"/>
            <a:ext cx="68580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Feedback</a:t>
            </a:r>
            <a:endParaRPr lang="en-US" sz="2400" dirty="0"/>
          </a:p>
        </p:txBody>
      </p:sp>
      <p:sp>
        <p:nvSpPr>
          <p:cNvPr id="4" name="Shape 2"/>
          <p:cNvSpPr/>
          <p:nvPr/>
        </p:nvSpPr>
        <p:spPr>
          <a:xfrm>
            <a:off x="731520" y="1051560"/>
            <a:ext cx="3200400" cy="27432"/>
          </a:xfrm>
          <a:prstGeom prst="rect">
            <a:avLst/>
          </a:prstGeom>
          <a:solidFill>
            <a:srgbClr val="D4A853"/>
          </a:solidFill>
          <a:ln/>
        </p:spPr>
      </p:sp>
      <p:sp>
        <p:nvSpPr>
          <p:cNvPr id="5" name="Text 3"/>
          <p:cNvSpPr/>
          <p:nvPr/>
        </p:nvSpPr>
        <p:spPr>
          <a:xfrm>
            <a:off x="731520" y="1280160"/>
            <a:ext cx="7498080" cy="1188720"/>
          </a:xfrm>
          <a:prstGeom prst="rect">
            <a:avLst/>
          </a:prstGeom>
          <a:noFill/>
          <a:ln/>
        </p:spPr>
        <p:txBody>
          <a:bodyPr wrap="square" lIns="0" tIns="0" rIns="0" bIns="0" rtlCol="0" anchor="t"/>
          <a:lstStyle/>
          <a:p>
            <a:pPr indent="0" marL="0">
              <a:lnSpc>
                <a:spcPct val="140000"/>
              </a:lnSpc>
              <a:buNone/>
            </a:pPr>
            <a:r>
              <a:rPr lang="en-US" sz="1400" dirty="0">
                <a:solidFill>
                  <a:srgbClr val="F0F0F0"/>
                </a:solidFill>
                <a:latin typeface="Calibri" pitchFamily="34" charset="0"/>
                <a:ea typeface="Calibri" pitchFamily="34" charset="-122"/>
                <a:cs typeface="Calibri" pitchFamily="34" charset="-120"/>
              </a:rPr>
              <a:t>Sound cues, visual effects, screen effects, material changes — all in response to participant action. Technically straightforward, but design-wise critical. Feedback closes the agency loop. Without it, actions feel mute. The quality of feedback shapes the quality of the experience of acting.</a:t>
            </a:r>
            <a:endParaRPr lang="en-US" sz="1400" dirty="0"/>
          </a:p>
        </p:txBody>
      </p:sp>
      <p:sp>
        <p:nvSpPr>
          <p:cNvPr id="6" name="Shape 4"/>
          <p:cNvSpPr/>
          <p:nvPr/>
        </p:nvSpPr>
        <p:spPr>
          <a:xfrm>
            <a:off x="731520" y="2651760"/>
            <a:ext cx="1097280" cy="320040"/>
          </a:xfrm>
          <a:prstGeom prst="rect">
            <a:avLst/>
          </a:prstGeom>
          <a:solidFill>
            <a:srgbClr val="2A2A2A"/>
          </a:solidFill>
          <a:ln/>
        </p:spPr>
      </p:sp>
      <p:sp>
        <p:nvSpPr>
          <p:cNvPr id="7" name="Text 5"/>
          <p:cNvSpPr/>
          <p:nvPr/>
        </p:nvSpPr>
        <p:spPr>
          <a:xfrm>
            <a:off x="731520" y="2651760"/>
            <a:ext cx="1097280"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Audio cues</a:t>
            </a:r>
            <a:endParaRPr lang="en-US" sz="1000" dirty="0"/>
          </a:p>
        </p:txBody>
      </p:sp>
      <p:sp>
        <p:nvSpPr>
          <p:cNvPr id="8" name="Shape 6"/>
          <p:cNvSpPr/>
          <p:nvPr/>
        </p:nvSpPr>
        <p:spPr>
          <a:xfrm>
            <a:off x="1965960" y="2651760"/>
            <a:ext cx="1508760" cy="320040"/>
          </a:xfrm>
          <a:prstGeom prst="rect">
            <a:avLst/>
          </a:prstGeom>
          <a:solidFill>
            <a:srgbClr val="2A2A2A"/>
          </a:solidFill>
          <a:ln/>
        </p:spPr>
      </p:sp>
      <p:sp>
        <p:nvSpPr>
          <p:cNvPr id="9" name="Text 7"/>
          <p:cNvSpPr/>
          <p:nvPr/>
        </p:nvSpPr>
        <p:spPr>
          <a:xfrm>
            <a:off x="1965960" y="2651760"/>
            <a:ext cx="1508760"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VFX / Particles</a:t>
            </a:r>
            <a:endParaRPr lang="en-US" sz="1000" dirty="0"/>
          </a:p>
        </p:txBody>
      </p:sp>
      <p:sp>
        <p:nvSpPr>
          <p:cNvPr id="10" name="Shape 8"/>
          <p:cNvSpPr/>
          <p:nvPr/>
        </p:nvSpPr>
        <p:spPr>
          <a:xfrm>
            <a:off x="3611880" y="2651760"/>
            <a:ext cx="1426464" cy="320040"/>
          </a:xfrm>
          <a:prstGeom prst="rect">
            <a:avLst/>
          </a:prstGeom>
          <a:solidFill>
            <a:srgbClr val="2A2A2A"/>
          </a:solidFill>
          <a:ln/>
        </p:spPr>
      </p:sp>
      <p:sp>
        <p:nvSpPr>
          <p:cNvPr id="11" name="Text 9"/>
          <p:cNvSpPr/>
          <p:nvPr/>
        </p:nvSpPr>
        <p:spPr>
          <a:xfrm>
            <a:off x="3611880" y="2651760"/>
            <a:ext cx="1426464"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Screen effects</a:t>
            </a:r>
            <a:endParaRPr lang="en-US" sz="1000" dirty="0"/>
          </a:p>
        </p:txBody>
      </p:sp>
      <p:sp>
        <p:nvSpPr>
          <p:cNvPr id="12" name="Shape 10"/>
          <p:cNvSpPr/>
          <p:nvPr/>
        </p:nvSpPr>
        <p:spPr>
          <a:xfrm>
            <a:off x="5175504" y="2651760"/>
            <a:ext cx="1591056" cy="320040"/>
          </a:xfrm>
          <a:prstGeom prst="rect">
            <a:avLst/>
          </a:prstGeom>
          <a:solidFill>
            <a:srgbClr val="2A2A2A"/>
          </a:solidFill>
          <a:ln/>
        </p:spPr>
      </p:sp>
      <p:sp>
        <p:nvSpPr>
          <p:cNvPr id="13" name="Text 11"/>
          <p:cNvSpPr/>
          <p:nvPr/>
        </p:nvSpPr>
        <p:spPr>
          <a:xfrm>
            <a:off x="5175504" y="2651760"/>
            <a:ext cx="1591056" cy="320040"/>
          </a:xfrm>
          <a:prstGeom prst="rect">
            <a:avLst/>
          </a:prstGeom>
          <a:noFill/>
          <a:ln/>
        </p:spPr>
        <p:txBody>
          <a:bodyPr wrap="square" lIns="0" tIns="0" rIns="0" bIns="0" rtlCol="0" anchor="ctr"/>
          <a:lstStyle/>
          <a:p>
            <a:pPr algn="ctr" indent="0" marL="0">
              <a:buNone/>
            </a:pPr>
            <a:r>
              <a:rPr lang="en-US" sz="1000" dirty="0">
                <a:solidFill>
                  <a:srgbClr val="D4A853"/>
                </a:solidFill>
                <a:latin typeface="Calibri" pitchFamily="34" charset="0"/>
                <a:ea typeface="Calibri" pitchFamily="34" charset="-122"/>
                <a:cs typeface="Calibri" pitchFamily="34" charset="-120"/>
              </a:rPr>
              <a:t>Material changes</a:t>
            </a:r>
            <a:endParaRPr lang="en-US" sz="1000" dirty="0"/>
          </a:p>
        </p:txBody>
      </p:sp>
      <p:sp>
        <p:nvSpPr>
          <p:cNvPr id="14" name="Shape 12"/>
          <p:cNvSpPr/>
          <p:nvPr/>
        </p:nvSpPr>
        <p:spPr>
          <a:xfrm>
            <a:off x="731520" y="3840480"/>
            <a:ext cx="7498080" cy="502920"/>
          </a:xfrm>
          <a:prstGeom prst="rect">
            <a:avLst/>
          </a:prstGeom>
          <a:solidFill>
            <a:srgbClr val="1A1A1A"/>
          </a:solidFill>
          <a:ln/>
        </p:spPr>
      </p:sp>
      <p:sp>
        <p:nvSpPr>
          <p:cNvPr id="15" name="Text 13"/>
          <p:cNvSpPr/>
          <p:nvPr/>
        </p:nvSpPr>
        <p:spPr>
          <a:xfrm>
            <a:off x="914400" y="3840480"/>
            <a:ext cx="7132320" cy="5029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Design question: </a:t>
            </a:r>
            <a:pPr indent="0" marL="0">
              <a:buNone/>
            </a:pPr>
            <a:r>
              <a:rPr lang="en-US" sz="1200" i="1" dirty="0">
                <a:solidFill>
                  <a:srgbClr val="D4A853"/>
                </a:solidFill>
                <a:latin typeface="Calibri" pitchFamily="34" charset="0"/>
                <a:ea typeface="Calibri" pitchFamily="34" charset="-122"/>
                <a:cs typeface="Calibri" pitchFamily="34" charset="-120"/>
              </a:rPr>
              <a:t>What does it feel like when the participant acts?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411480"/>
            <a:ext cx="548640" cy="502920"/>
          </a:xfrm>
          <a:prstGeom prst="rect">
            <a:avLst/>
          </a:prstGeom>
          <a:noFill/>
          <a:ln/>
        </p:spPr>
        <p:txBody>
          <a:bodyPr wrap="square" lIns="0" tIns="0" rIns="0" bIns="0" rtlCol="0" anchor="ctr"/>
          <a:lstStyle/>
          <a:p>
            <a:pPr indent="0" marL="0">
              <a:buNone/>
            </a:pPr>
            <a:r>
              <a:rPr lang="en-US" sz="2800" b="1" dirty="0">
                <a:solidFill>
                  <a:srgbClr val="6B9EBF"/>
                </a:solidFill>
                <a:latin typeface="Calibri" pitchFamily="34" charset="0"/>
                <a:ea typeface="Calibri" pitchFamily="34" charset="-122"/>
                <a:cs typeface="Calibri" pitchFamily="34" charset="-120"/>
              </a:rPr>
              <a:t>04</a:t>
            </a:r>
            <a:endParaRPr lang="en-US" sz="2800" dirty="0"/>
          </a:p>
        </p:txBody>
      </p:sp>
      <p:sp>
        <p:nvSpPr>
          <p:cNvPr id="3" name="Text 1"/>
          <p:cNvSpPr/>
          <p:nvPr/>
        </p:nvSpPr>
        <p:spPr>
          <a:xfrm>
            <a:off x="1371600" y="438912"/>
            <a:ext cx="68580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UI</a:t>
            </a:r>
            <a:endParaRPr lang="en-US" sz="2400" dirty="0"/>
          </a:p>
        </p:txBody>
      </p:sp>
      <p:sp>
        <p:nvSpPr>
          <p:cNvPr id="4" name="Shape 2"/>
          <p:cNvSpPr/>
          <p:nvPr/>
        </p:nvSpPr>
        <p:spPr>
          <a:xfrm>
            <a:off x="731520" y="1051560"/>
            <a:ext cx="3200400" cy="27432"/>
          </a:xfrm>
          <a:prstGeom prst="rect">
            <a:avLst/>
          </a:prstGeom>
          <a:solidFill>
            <a:srgbClr val="6B9EBF"/>
          </a:solidFill>
          <a:ln/>
        </p:spPr>
      </p:sp>
      <p:sp>
        <p:nvSpPr>
          <p:cNvPr id="5" name="Text 3"/>
          <p:cNvSpPr/>
          <p:nvPr/>
        </p:nvSpPr>
        <p:spPr>
          <a:xfrm>
            <a:off x="731520" y="1280160"/>
            <a:ext cx="7498080" cy="1188720"/>
          </a:xfrm>
          <a:prstGeom prst="rect">
            <a:avLst/>
          </a:prstGeom>
          <a:noFill/>
          <a:ln/>
        </p:spPr>
        <p:txBody>
          <a:bodyPr wrap="square" lIns="0" tIns="0" rIns="0" bIns="0" rtlCol="0" anchor="t"/>
          <a:lstStyle/>
          <a:p>
            <a:pPr indent="0" marL="0">
              <a:lnSpc>
                <a:spcPct val="140000"/>
              </a:lnSpc>
              <a:buNone/>
            </a:pPr>
            <a:r>
              <a:rPr lang="en-US" sz="1400" dirty="0">
                <a:solidFill>
                  <a:srgbClr val="F0F0F0"/>
                </a:solidFill>
                <a:latin typeface="Calibri" pitchFamily="34" charset="0"/>
                <a:ea typeface="Calibri" pitchFamily="34" charset="-122"/>
                <a:cs typeface="Calibri" pitchFamily="34" charset="-120"/>
              </a:rPr>
              <a:t>World-space UI, diegetic interfaces, simulated physical controls — buttons, sliders, knobs that exist in the world rather than overlaid on screen. The bridge between participant and system. Also the prototyping layer for cross-platform input: design a lever on screen, later bind it to a physical lever.</a:t>
            </a:r>
            <a:endParaRPr lang="en-US" sz="1400" dirty="0"/>
          </a:p>
        </p:txBody>
      </p:sp>
      <p:sp>
        <p:nvSpPr>
          <p:cNvPr id="6" name="Shape 4"/>
          <p:cNvSpPr/>
          <p:nvPr/>
        </p:nvSpPr>
        <p:spPr>
          <a:xfrm>
            <a:off x="731520" y="2651760"/>
            <a:ext cx="1426464" cy="320040"/>
          </a:xfrm>
          <a:prstGeom prst="rect">
            <a:avLst/>
          </a:prstGeom>
          <a:solidFill>
            <a:srgbClr val="2A2A2A"/>
          </a:solidFill>
          <a:ln/>
        </p:spPr>
      </p:sp>
      <p:sp>
        <p:nvSpPr>
          <p:cNvPr id="7" name="Text 5"/>
          <p:cNvSpPr/>
          <p:nvPr/>
        </p:nvSpPr>
        <p:spPr>
          <a:xfrm>
            <a:off x="731520" y="2651760"/>
            <a:ext cx="1426464"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World-space UI</a:t>
            </a:r>
            <a:endParaRPr lang="en-US" sz="1000" dirty="0"/>
          </a:p>
        </p:txBody>
      </p:sp>
      <p:sp>
        <p:nvSpPr>
          <p:cNvPr id="8" name="Shape 6"/>
          <p:cNvSpPr/>
          <p:nvPr/>
        </p:nvSpPr>
        <p:spPr>
          <a:xfrm>
            <a:off x="2295144" y="2651760"/>
            <a:ext cx="1673352" cy="320040"/>
          </a:xfrm>
          <a:prstGeom prst="rect">
            <a:avLst/>
          </a:prstGeom>
          <a:solidFill>
            <a:srgbClr val="2A2A2A"/>
          </a:solidFill>
          <a:ln/>
        </p:spPr>
      </p:sp>
      <p:sp>
        <p:nvSpPr>
          <p:cNvPr id="9" name="Text 7"/>
          <p:cNvSpPr/>
          <p:nvPr/>
        </p:nvSpPr>
        <p:spPr>
          <a:xfrm>
            <a:off x="2295144" y="2651760"/>
            <a:ext cx="1673352"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Diegetic controls</a:t>
            </a:r>
            <a:endParaRPr lang="en-US" sz="1000" dirty="0"/>
          </a:p>
        </p:txBody>
      </p:sp>
      <p:sp>
        <p:nvSpPr>
          <p:cNvPr id="10" name="Shape 8"/>
          <p:cNvSpPr/>
          <p:nvPr/>
        </p:nvSpPr>
        <p:spPr>
          <a:xfrm>
            <a:off x="4105656" y="2651760"/>
            <a:ext cx="1261872" cy="320040"/>
          </a:xfrm>
          <a:prstGeom prst="rect">
            <a:avLst/>
          </a:prstGeom>
          <a:solidFill>
            <a:srgbClr val="2A2A2A"/>
          </a:solidFill>
          <a:ln/>
        </p:spPr>
      </p:sp>
      <p:sp>
        <p:nvSpPr>
          <p:cNvPr id="11" name="Text 9"/>
          <p:cNvSpPr/>
          <p:nvPr/>
        </p:nvSpPr>
        <p:spPr>
          <a:xfrm>
            <a:off x="4105656" y="2651760"/>
            <a:ext cx="1261872"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Event system</a:t>
            </a:r>
            <a:endParaRPr lang="en-US" sz="1000" dirty="0"/>
          </a:p>
        </p:txBody>
      </p:sp>
      <p:sp>
        <p:nvSpPr>
          <p:cNvPr id="12" name="Shape 10"/>
          <p:cNvSpPr/>
          <p:nvPr/>
        </p:nvSpPr>
        <p:spPr>
          <a:xfrm>
            <a:off x="5504688" y="2651760"/>
            <a:ext cx="1344168" cy="320040"/>
          </a:xfrm>
          <a:prstGeom prst="rect">
            <a:avLst/>
          </a:prstGeom>
          <a:solidFill>
            <a:srgbClr val="2A2A2A"/>
          </a:solidFill>
          <a:ln/>
        </p:spPr>
      </p:sp>
      <p:sp>
        <p:nvSpPr>
          <p:cNvPr id="13" name="Text 11"/>
          <p:cNvSpPr/>
          <p:nvPr/>
        </p:nvSpPr>
        <p:spPr>
          <a:xfrm>
            <a:off x="5504688" y="2651760"/>
            <a:ext cx="1344168"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Input mapping</a:t>
            </a:r>
            <a:endParaRPr lang="en-US" sz="1000" dirty="0"/>
          </a:p>
        </p:txBody>
      </p:sp>
      <p:sp>
        <p:nvSpPr>
          <p:cNvPr id="14" name="Shape 12"/>
          <p:cNvSpPr/>
          <p:nvPr/>
        </p:nvSpPr>
        <p:spPr>
          <a:xfrm>
            <a:off x="731520" y="3840480"/>
            <a:ext cx="7498080" cy="502920"/>
          </a:xfrm>
          <a:prstGeom prst="rect">
            <a:avLst/>
          </a:prstGeom>
          <a:solidFill>
            <a:srgbClr val="1A1A1A"/>
          </a:solidFill>
          <a:ln/>
        </p:spPr>
      </p:sp>
      <p:sp>
        <p:nvSpPr>
          <p:cNvPr id="15" name="Text 13"/>
          <p:cNvSpPr/>
          <p:nvPr/>
        </p:nvSpPr>
        <p:spPr>
          <a:xfrm>
            <a:off x="914400" y="3840480"/>
            <a:ext cx="7132320" cy="5029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Design question: </a:t>
            </a:r>
            <a:pPr indent="0" marL="0">
              <a:buNone/>
            </a:pPr>
            <a:r>
              <a:rPr lang="en-US" sz="1200" i="1" dirty="0">
                <a:solidFill>
                  <a:srgbClr val="6B9EBF"/>
                </a:solidFill>
                <a:latin typeface="Calibri" pitchFamily="34" charset="0"/>
                <a:ea typeface="Calibri" pitchFamily="34" charset="-122"/>
                <a:cs typeface="Calibri" pitchFamily="34" charset="-120"/>
              </a:rPr>
              <a:t>How does the participant communicate intent to the system?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411480"/>
            <a:ext cx="548640" cy="502920"/>
          </a:xfrm>
          <a:prstGeom prst="rect">
            <a:avLst/>
          </a:prstGeom>
          <a:noFill/>
          <a:ln/>
        </p:spPr>
        <p:txBody>
          <a:bodyPr wrap="square" lIns="0" tIns="0" rIns="0" bIns="0" rtlCol="0" anchor="ctr"/>
          <a:lstStyle/>
          <a:p>
            <a:pPr indent="0" marL="0">
              <a:buNone/>
            </a:pPr>
            <a:r>
              <a:rPr lang="en-US" sz="2800" b="1" dirty="0">
                <a:solidFill>
                  <a:srgbClr val="6B9EBF"/>
                </a:solidFill>
                <a:latin typeface="Calibri" pitchFamily="34" charset="0"/>
                <a:ea typeface="Calibri" pitchFamily="34" charset="-122"/>
                <a:cs typeface="Calibri" pitchFamily="34" charset="-120"/>
              </a:rPr>
              <a:t>05</a:t>
            </a:r>
            <a:endParaRPr lang="en-US" sz="2800" dirty="0"/>
          </a:p>
        </p:txBody>
      </p:sp>
      <p:sp>
        <p:nvSpPr>
          <p:cNvPr id="3" name="Text 1"/>
          <p:cNvSpPr/>
          <p:nvPr/>
        </p:nvSpPr>
        <p:spPr>
          <a:xfrm>
            <a:off x="1371600" y="438912"/>
            <a:ext cx="68580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Movement</a:t>
            </a:r>
            <a:endParaRPr lang="en-US" sz="2400" dirty="0"/>
          </a:p>
        </p:txBody>
      </p:sp>
      <p:sp>
        <p:nvSpPr>
          <p:cNvPr id="4" name="Shape 2"/>
          <p:cNvSpPr/>
          <p:nvPr/>
        </p:nvSpPr>
        <p:spPr>
          <a:xfrm>
            <a:off x="731520" y="1051560"/>
            <a:ext cx="3200400" cy="27432"/>
          </a:xfrm>
          <a:prstGeom prst="rect">
            <a:avLst/>
          </a:prstGeom>
          <a:solidFill>
            <a:srgbClr val="6B9EBF"/>
          </a:solidFill>
          <a:ln/>
        </p:spPr>
      </p:sp>
      <p:sp>
        <p:nvSpPr>
          <p:cNvPr id="5" name="Text 3"/>
          <p:cNvSpPr/>
          <p:nvPr/>
        </p:nvSpPr>
        <p:spPr>
          <a:xfrm>
            <a:off x="731520" y="1280160"/>
            <a:ext cx="7498080" cy="1188720"/>
          </a:xfrm>
          <a:prstGeom prst="rect">
            <a:avLst/>
          </a:prstGeom>
          <a:noFill/>
          <a:ln/>
        </p:spPr>
        <p:txBody>
          <a:bodyPr wrap="square" lIns="0" tIns="0" rIns="0" bIns="0" rtlCol="0" anchor="t"/>
          <a:lstStyle/>
          <a:p>
            <a:pPr indent="0" marL="0">
              <a:lnSpc>
                <a:spcPct val="140000"/>
              </a:lnSpc>
              <a:buNone/>
            </a:pPr>
            <a:r>
              <a:rPr lang="en-US" sz="1400" dirty="0">
                <a:solidFill>
                  <a:srgbClr val="F0F0F0"/>
                </a:solidFill>
                <a:latin typeface="Calibri" pitchFamily="34" charset="0"/>
                <a:ea typeface="Calibri" pitchFamily="34" charset="-122"/>
                <a:cs typeface="Calibri" pitchFamily="34" charset="-120"/>
              </a:rPr>
              <a:t>Beyond the default FPS controller. Custom movement modes, constrained movement, perspective manipulation. What the participant's body can do and cannot do. Walking slowly through fog is a different interaction than sprinting through an open field — movement itself carries meaning. The body is a designed constraint.</a:t>
            </a:r>
            <a:endParaRPr lang="en-US" sz="1400" dirty="0"/>
          </a:p>
        </p:txBody>
      </p:sp>
      <p:sp>
        <p:nvSpPr>
          <p:cNvPr id="6" name="Shape 4"/>
          <p:cNvSpPr/>
          <p:nvPr/>
        </p:nvSpPr>
        <p:spPr>
          <a:xfrm>
            <a:off x="731520" y="2651760"/>
            <a:ext cx="1755648" cy="320040"/>
          </a:xfrm>
          <a:prstGeom prst="rect">
            <a:avLst/>
          </a:prstGeom>
          <a:solidFill>
            <a:srgbClr val="2A2A2A"/>
          </a:solidFill>
          <a:ln/>
        </p:spPr>
      </p:sp>
      <p:sp>
        <p:nvSpPr>
          <p:cNvPr id="7" name="Text 5"/>
          <p:cNvSpPr/>
          <p:nvPr/>
        </p:nvSpPr>
        <p:spPr>
          <a:xfrm>
            <a:off x="731520" y="2651760"/>
            <a:ext cx="1755648"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Custom controllers</a:t>
            </a:r>
            <a:endParaRPr lang="en-US" sz="1000" dirty="0"/>
          </a:p>
        </p:txBody>
      </p:sp>
      <p:sp>
        <p:nvSpPr>
          <p:cNvPr id="8" name="Shape 6"/>
          <p:cNvSpPr/>
          <p:nvPr/>
        </p:nvSpPr>
        <p:spPr>
          <a:xfrm>
            <a:off x="2624328" y="2651760"/>
            <a:ext cx="1426464" cy="320040"/>
          </a:xfrm>
          <a:prstGeom prst="rect">
            <a:avLst/>
          </a:prstGeom>
          <a:solidFill>
            <a:srgbClr val="2A2A2A"/>
          </a:solidFill>
          <a:ln/>
        </p:spPr>
      </p:sp>
      <p:sp>
        <p:nvSpPr>
          <p:cNvPr id="9" name="Text 7"/>
          <p:cNvSpPr/>
          <p:nvPr/>
        </p:nvSpPr>
        <p:spPr>
          <a:xfrm>
            <a:off x="2624328" y="2651760"/>
            <a:ext cx="1426464"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Movement modes</a:t>
            </a:r>
            <a:endParaRPr lang="en-US" sz="1000" dirty="0"/>
          </a:p>
        </p:txBody>
      </p:sp>
      <p:sp>
        <p:nvSpPr>
          <p:cNvPr id="10" name="Shape 8"/>
          <p:cNvSpPr/>
          <p:nvPr/>
        </p:nvSpPr>
        <p:spPr>
          <a:xfrm>
            <a:off x="4187952" y="2651760"/>
            <a:ext cx="1179576" cy="320040"/>
          </a:xfrm>
          <a:prstGeom prst="rect">
            <a:avLst/>
          </a:prstGeom>
          <a:solidFill>
            <a:srgbClr val="2A2A2A"/>
          </a:solidFill>
          <a:ln/>
        </p:spPr>
      </p:sp>
      <p:sp>
        <p:nvSpPr>
          <p:cNvPr id="11" name="Text 9"/>
          <p:cNvSpPr/>
          <p:nvPr/>
        </p:nvSpPr>
        <p:spPr>
          <a:xfrm>
            <a:off x="4187952" y="2651760"/>
            <a:ext cx="1179576"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Perspective</a:t>
            </a:r>
            <a:endParaRPr lang="en-US" sz="1000" dirty="0"/>
          </a:p>
        </p:txBody>
      </p:sp>
      <p:sp>
        <p:nvSpPr>
          <p:cNvPr id="12" name="Shape 10"/>
          <p:cNvSpPr/>
          <p:nvPr/>
        </p:nvSpPr>
        <p:spPr>
          <a:xfrm>
            <a:off x="5504688" y="2651760"/>
            <a:ext cx="1179576" cy="320040"/>
          </a:xfrm>
          <a:prstGeom prst="rect">
            <a:avLst/>
          </a:prstGeom>
          <a:solidFill>
            <a:srgbClr val="2A2A2A"/>
          </a:solidFill>
          <a:ln/>
        </p:spPr>
      </p:sp>
      <p:sp>
        <p:nvSpPr>
          <p:cNvPr id="13" name="Text 11"/>
          <p:cNvSpPr/>
          <p:nvPr/>
        </p:nvSpPr>
        <p:spPr>
          <a:xfrm>
            <a:off x="5504688" y="2651760"/>
            <a:ext cx="1179576"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Cinemachine</a:t>
            </a:r>
            <a:endParaRPr lang="en-US" sz="1000" dirty="0"/>
          </a:p>
        </p:txBody>
      </p:sp>
      <p:sp>
        <p:nvSpPr>
          <p:cNvPr id="14" name="Shape 12"/>
          <p:cNvSpPr/>
          <p:nvPr/>
        </p:nvSpPr>
        <p:spPr>
          <a:xfrm>
            <a:off x="731520" y="3840480"/>
            <a:ext cx="7498080" cy="502920"/>
          </a:xfrm>
          <a:prstGeom prst="rect">
            <a:avLst/>
          </a:prstGeom>
          <a:solidFill>
            <a:srgbClr val="1A1A1A"/>
          </a:solidFill>
          <a:ln/>
        </p:spPr>
      </p:sp>
      <p:sp>
        <p:nvSpPr>
          <p:cNvPr id="15" name="Text 13"/>
          <p:cNvSpPr/>
          <p:nvPr/>
        </p:nvSpPr>
        <p:spPr>
          <a:xfrm>
            <a:off x="914400" y="3840480"/>
            <a:ext cx="7132320" cy="5029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Design question: </a:t>
            </a:r>
            <a:pPr indent="0" marL="0">
              <a:buNone/>
            </a:pPr>
            <a:r>
              <a:rPr lang="en-US" sz="1200" i="1" dirty="0">
                <a:solidFill>
                  <a:srgbClr val="6B9EBF"/>
                </a:solidFill>
                <a:latin typeface="Calibri" pitchFamily="34" charset="0"/>
                <a:ea typeface="Calibri" pitchFamily="34" charset="-122"/>
                <a:cs typeface="Calibri" pitchFamily="34" charset="-120"/>
              </a:rPr>
              <a:t>What does the participant's body feel like in this world?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411480"/>
            <a:ext cx="548640" cy="502920"/>
          </a:xfrm>
          <a:prstGeom prst="rect">
            <a:avLst/>
          </a:prstGeom>
          <a:noFill/>
          <a:ln/>
        </p:spPr>
        <p:txBody>
          <a:bodyPr wrap="square" lIns="0" tIns="0" rIns="0" bIns="0" rtlCol="0" anchor="ctr"/>
          <a:lstStyle/>
          <a:p>
            <a:pPr indent="0" marL="0">
              <a:buNone/>
            </a:pPr>
            <a:r>
              <a:rPr lang="en-US" sz="2800" b="1" dirty="0">
                <a:solidFill>
                  <a:srgbClr val="6B9EBF"/>
                </a:solidFill>
                <a:latin typeface="Calibri" pitchFamily="34" charset="0"/>
                <a:ea typeface="Calibri" pitchFamily="34" charset="-122"/>
                <a:cs typeface="Calibri" pitchFamily="34" charset="-120"/>
              </a:rPr>
              <a:t>06</a:t>
            </a:r>
            <a:endParaRPr lang="en-US" sz="2800" dirty="0"/>
          </a:p>
        </p:txBody>
      </p:sp>
      <p:sp>
        <p:nvSpPr>
          <p:cNvPr id="3" name="Text 1"/>
          <p:cNvSpPr/>
          <p:nvPr/>
        </p:nvSpPr>
        <p:spPr>
          <a:xfrm>
            <a:off x="1371600" y="438912"/>
            <a:ext cx="68580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Physics</a:t>
            </a:r>
            <a:endParaRPr lang="en-US" sz="2400" dirty="0"/>
          </a:p>
        </p:txBody>
      </p:sp>
      <p:sp>
        <p:nvSpPr>
          <p:cNvPr id="4" name="Shape 2"/>
          <p:cNvSpPr/>
          <p:nvPr/>
        </p:nvSpPr>
        <p:spPr>
          <a:xfrm>
            <a:off x="731520" y="1051560"/>
            <a:ext cx="3200400" cy="27432"/>
          </a:xfrm>
          <a:prstGeom prst="rect">
            <a:avLst/>
          </a:prstGeom>
          <a:solidFill>
            <a:srgbClr val="6B9EBF"/>
          </a:solidFill>
          <a:ln/>
        </p:spPr>
      </p:sp>
      <p:sp>
        <p:nvSpPr>
          <p:cNvPr id="5" name="Text 3"/>
          <p:cNvSpPr/>
          <p:nvPr/>
        </p:nvSpPr>
        <p:spPr>
          <a:xfrm>
            <a:off x="731520" y="1280160"/>
            <a:ext cx="7498080" cy="1188720"/>
          </a:xfrm>
          <a:prstGeom prst="rect">
            <a:avLst/>
          </a:prstGeom>
          <a:noFill/>
          <a:ln/>
        </p:spPr>
        <p:txBody>
          <a:bodyPr wrap="square" lIns="0" tIns="0" rIns="0" bIns="0" rtlCol="0" anchor="t"/>
          <a:lstStyle/>
          <a:p>
            <a:pPr indent="0" marL="0">
              <a:lnSpc>
                <a:spcPct val="140000"/>
              </a:lnSpc>
              <a:buNone/>
            </a:pPr>
            <a:r>
              <a:rPr lang="en-US" sz="1400" dirty="0">
                <a:solidFill>
                  <a:srgbClr val="F0F0F0"/>
                </a:solidFill>
                <a:latin typeface="Calibri" pitchFamily="34" charset="0"/>
                <a:ea typeface="Calibri" pitchFamily="34" charset="-122"/>
                <a:cs typeface="Calibri" pitchFamily="34" charset="-120"/>
              </a:rPr>
              <a:t>Forces, collisions, joints, constraints, ragdolls. Weight, momentum, materiality as expressive tools. A heavy object feels different to move — that feeling is designable. Physics gives the world substance: resistance, fragility, elasticity become part of the interaction vocabulary.</a:t>
            </a:r>
            <a:endParaRPr lang="en-US" sz="1400" dirty="0"/>
          </a:p>
        </p:txBody>
      </p:sp>
      <p:sp>
        <p:nvSpPr>
          <p:cNvPr id="6" name="Shape 4"/>
          <p:cNvSpPr/>
          <p:nvPr/>
        </p:nvSpPr>
        <p:spPr>
          <a:xfrm>
            <a:off x="731520" y="2651760"/>
            <a:ext cx="1179576" cy="320040"/>
          </a:xfrm>
          <a:prstGeom prst="rect">
            <a:avLst/>
          </a:prstGeom>
          <a:solidFill>
            <a:srgbClr val="2A2A2A"/>
          </a:solidFill>
          <a:ln/>
        </p:spPr>
      </p:sp>
      <p:sp>
        <p:nvSpPr>
          <p:cNvPr id="7" name="Text 5"/>
          <p:cNvSpPr/>
          <p:nvPr/>
        </p:nvSpPr>
        <p:spPr>
          <a:xfrm>
            <a:off x="731520" y="2651760"/>
            <a:ext cx="1179576"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Rigidbodies</a:t>
            </a:r>
            <a:endParaRPr lang="en-US" sz="1000" dirty="0"/>
          </a:p>
        </p:txBody>
      </p:sp>
      <p:sp>
        <p:nvSpPr>
          <p:cNvPr id="8" name="Shape 6"/>
          <p:cNvSpPr/>
          <p:nvPr/>
        </p:nvSpPr>
        <p:spPr>
          <a:xfrm>
            <a:off x="2048256" y="2651760"/>
            <a:ext cx="1508760" cy="320040"/>
          </a:xfrm>
          <a:prstGeom prst="rect">
            <a:avLst/>
          </a:prstGeom>
          <a:solidFill>
            <a:srgbClr val="2A2A2A"/>
          </a:solidFill>
          <a:ln/>
        </p:spPr>
      </p:sp>
      <p:sp>
        <p:nvSpPr>
          <p:cNvPr id="9" name="Text 7"/>
          <p:cNvSpPr/>
          <p:nvPr/>
        </p:nvSpPr>
        <p:spPr>
          <a:xfrm>
            <a:off x="2048256" y="2651760"/>
            <a:ext cx="1508760"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Forces / Joints</a:t>
            </a:r>
            <a:endParaRPr lang="en-US" sz="1000" dirty="0"/>
          </a:p>
        </p:txBody>
      </p:sp>
      <p:sp>
        <p:nvSpPr>
          <p:cNvPr id="10" name="Shape 8"/>
          <p:cNvSpPr/>
          <p:nvPr/>
        </p:nvSpPr>
        <p:spPr>
          <a:xfrm>
            <a:off x="3694176" y="2651760"/>
            <a:ext cx="1673352" cy="320040"/>
          </a:xfrm>
          <a:prstGeom prst="rect">
            <a:avLst/>
          </a:prstGeom>
          <a:solidFill>
            <a:srgbClr val="2A2A2A"/>
          </a:solidFill>
          <a:ln/>
        </p:spPr>
      </p:sp>
      <p:sp>
        <p:nvSpPr>
          <p:cNvPr id="11" name="Text 9"/>
          <p:cNvSpPr/>
          <p:nvPr/>
        </p:nvSpPr>
        <p:spPr>
          <a:xfrm>
            <a:off x="3694176" y="2651760"/>
            <a:ext cx="1673352"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Physics materials</a:t>
            </a:r>
            <a:endParaRPr lang="en-US" sz="1000" dirty="0"/>
          </a:p>
        </p:txBody>
      </p:sp>
      <p:sp>
        <p:nvSpPr>
          <p:cNvPr id="12" name="Shape 10"/>
          <p:cNvSpPr/>
          <p:nvPr/>
        </p:nvSpPr>
        <p:spPr>
          <a:xfrm>
            <a:off x="5504688" y="2651760"/>
            <a:ext cx="1179576" cy="320040"/>
          </a:xfrm>
          <a:prstGeom prst="rect">
            <a:avLst/>
          </a:prstGeom>
          <a:solidFill>
            <a:srgbClr val="2A2A2A"/>
          </a:solidFill>
          <a:ln/>
        </p:spPr>
      </p:sp>
      <p:sp>
        <p:nvSpPr>
          <p:cNvPr id="13" name="Text 11"/>
          <p:cNvSpPr/>
          <p:nvPr/>
        </p:nvSpPr>
        <p:spPr>
          <a:xfrm>
            <a:off x="5504688" y="2651760"/>
            <a:ext cx="1179576" cy="320040"/>
          </a:xfrm>
          <a:prstGeom prst="rect">
            <a:avLst/>
          </a:prstGeom>
          <a:noFill/>
          <a:ln/>
        </p:spPr>
        <p:txBody>
          <a:bodyPr wrap="square" lIns="0" tIns="0" rIns="0" bIns="0" rtlCol="0" anchor="ctr"/>
          <a:lstStyle/>
          <a:p>
            <a:pPr algn="ctr" indent="0" marL="0">
              <a:buNone/>
            </a:pPr>
            <a:r>
              <a:rPr lang="en-US" sz="1000" dirty="0">
                <a:solidFill>
                  <a:srgbClr val="6B9EBF"/>
                </a:solidFill>
                <a:latin typeface="Calibri" pitchFamily="34" charset="0"/>
                <a:ea typeface="Calibri" pitchFamily="34" charset="-122"/>
                <a:cs typeface="Calibri" pitchFamily="34" charset="-120"/>
              </a:rPr>
              <a:t>Constraints</a:t>
            </a:r>
            <a:endParaRPr lang="en-US" sz="1000" dirty="0"/>
          </a:p>
        </p:txBody>
      </p:sp>
      <p:sp>
        <p:nvSpPr>
          <p:cNvPr id="14" name="Shape 12"/>
          <p:cNvSpPr/>
          <p:nvPr/>
        </p:nvSpPr>
        <p:spPr>
          <a:xfrm>
            <a:off x="731520" y="3840480"/>
            <a:ext cx="7498080" cy="502920"/>
          </a:xfrm>
          <a:prstGeom prst="rect">
            <a:avLst/>
          </a:prstGeom>
          <a:solidFill>
            <a:srgbClr val="1A1A1A"/>
          </a:solidFill>
          <a:ln/>
        </p:spPr>
      </p:sp>
      <p:sp>
        <p:nvSpPr>
          <p:cNvPr id="15" name="Text 13"/>
          <p:cNvSpPr/>
          <p:nvPr/>
        </p:nvSpPr>
        <p:spPr>
          <a:xfrm>
            <a:off x="914400" y="3840480"/>
            <a:ext cx="7132320" cy="5029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Design question: </a:t>
            </a:r>
            <a:pPr indent="0" marL="0">
              <a:buNone/>
            </a:pPr>
            <a:r>
              <a:rPr lang="en-US" sz="1200" i="1" dirty="0">
                <a:solidFill>
                  <a:srgbClr val="6B9EBF"/>
                </a:solidFill>
                <a:latin typeface="Calibri" pitchFamily="34" charset="0"/>
                <a:ea typeface="Calibri" pitchFamily="34" charset="-122"/>
                <a:cs typeface="Calibri" pitchFamily="34" charset="-120"/>
              </a:rPr>
              <a:t>What does the world weigh?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411480"/>
            <a:ext cx="548640" cy="502920"/>
          </a:xfrm>
          <a:prstGeom prst="rect">
            <a:avLst/>
          </a:prstGeom>
          <a:noFill/>
          <a:ln/>
        </p:spPr>
        <p:txBody>
          <a:bodyPr wrap="square" lIns="0" tIns="0" rIns="0" bIns="0" rtlCol="0" anchor="ctr"/>
          <a:lstStyle/>
          <a:p>
            <a:pPr indent="0" marL="0">
              <a:buNone/>
            </a:pPr>
            <a:r>
              <a:rPr lang="en-US" sz="2800" b="1" dirty="0">
                <a:solidFill>
                  <a:srgbClr val="C45C4A"/>
                </a:solidFill>
                <a:latin typeface="Calibri" pitchFamily="34" charset="0"/>
                <a:ea typeface="Calibri" pitchFamily="34" charset="-122"/>
                <a:cs typeface="Calibri" pitchFamily="34" charset="-120"/>
              </a:rPr>
              <a:t>07</a:t>
            </a:r>
            <a:endParaRPr lang="en-US" sz="2800" dirty="0"/>
          </a:p>
        </p:txBody>
      </p:sp>
      <p:sp>
        <p:nvSpPr>
          <p:cNvPr id="3" name="Text 1"/>
          <p:cNvSpPr/>
          <p:nvPr/>
        </p:nvSpPr>
        <p:spPr>
          <a:xfrm>
            <a:off x="1371600" y="438912"/>
            <a:ext cx="68580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Agents</a:t>
            </a:r>
            <a:endParaRPr lang="en-US" sz="2400" dirty="0"/>
          </a:p>
        </p:txBody>
      </p:sp>
      <p:sp>
        <p:nvSpPr>
          <p:cNvPr id="4" name="Shape 2"/>
          <p:cNvSpPr/>
          <p:nvPr/>
        </p:nvSpPr>
        <p:spPr>
          <a:xfrm>
            <a:off x="731520" y="1051560"/>
            <a:ext cx="3200400" cy="27432"/>
          </a:xfrm>
          <a:prstGeom prst="rect">
            <a:avLst/>
          </a:prstGeom>
          <a:solidFill>
            <a:srgbClr val="C45C4A"/>
          </a:solidFill>
          <a:ln/>
        </p:spPr>
      </p:sp>
      <p:sp>
        <p:nvSpPr>
          <p:cNvPr id="5" name="Text 3"/>
          <p:cNvSpPr/>
          <p:nvPr/>
        </p:nvSpPr>
        <p:spPr>
          <a:xfrm>
            <a:off x="731520" y="1280160"/>
            <a:ext cx="7498080" cy="1188720"/>
          </a:xfrm>
          <a:prstGeom prst="rect">
            <a:avLst/>
          </a:prstGeom>
          <a:noFill/>
          <a:ln/>
        </p:spPr>
        <p:txBody>
          <a:bodyPr wrap="square" lIns="0" tIns="0" rIns="0" bIns="0" rtlCol="0" anchor="t"/>
          <a:lstStyle/>
          <a:p>
            <a:pPr indent="0" marL="0">
              <a:lnSpc>
                <a:spcPct val="140000"/>
              </a:lnSpc>
              <a:buNone/>
            </a:pPr>
            <a:r>
              <a:rPr lang="en-US" sz="1400" dirty="0">
                <a:solidFill>
                  <a:srgbClr val="F0F0F0"/>
                </a:solidFill>
                <a:latin typeface="Calibri" pitchFamily="34" charset="0"/>
                <a:ea typeface="Calibri" pitchFamily="34" charset="-122"/>
                <a:cs typeface="Calibri" pitchFamily="34" charset="-120"/>
              </a:rPr>
              <a:t>Autonomous entities that move, behave, react. Presence of others in the space. Pathfinding, behavior trees or simple state machines, reactions to player proximity and actions. The most direct way to design social agency — the participant's relationship to other beings is a rich expressive space. The world is no longer empty.</a:t>
            </a:r>
            <a:endParaRPr lang="en-US" sz="1400" dirty="0"/>
          </a:p>
        </p:txBody>
      </p:sp>
      <p:sp>
        <p:nvSpPr>
          <p:cNvPr id="6" name="Shape 4"/>
          <p:cNvSpPr/>
          <p:nvPr/>
        </p:nvSpPr>
        <p:spPr>
          <a:xfrm>
            <a:off x="731520" y="2651760"/>
            <a:ext cx="914400" cy="320040"/>
          </a:xfrm>
          <a:prstGeom prst="rect">
            <a:avLst/>
          </a:prstGeom>
          <a:solidFill>
            <a:srgbClr val="2A2A2A"/>
          </a:solidFill>
          <a:ln/>
        </p:spPr>
      </p:sp>
      <p:sp>
        <p:nvSpPr>
          <p:cNvPr id="7" name="Text 5"/>
          <p:cNvSpPr/>
          <p:nvPr/>
        </p:nvSpPr>
        <p:spPr>
          <a:xfrm>
            <a:off x="731520" y="2651760"/>
            <a:ext cx="914400" cy="320040"/>
          </a:xfrm>
          <a:prstGeom prst="rect">
            <a:avLst/>
          </a:prstGeom>
          <a:noFill/>
          <a:ln/>
        </p:spPr>
        <p:txBody>
          <a:bodyPr wrap="square" lIns="0" tIns="0" rIns="0" bIns="0" rtlCol="0" anchor="ctr"/>
          <a:lstStyle/>
          <a:p>
            <a:pPr algn="ctr" indent="0" marL="0">
              <a:buNone/>
            </a:pPr>
            <a:r>
              <a:rPr lang="en-US" sz="1000" dirty="0">
                <a:solidFill>
                  <a:srgbClr val="C45C4A"/>
                </a:solidFill>
                <a:latin typeface="Calibri" pitchFamily="34" charset="0"/>
                <a:ea typeface="Calibri" pitchFamily="34" charset="-122"/>
                <a:cs typeface="Calibri" pitchFamily="34" charset="-120"/>
              </a:rPr>
              <a:t>NavMesh</a:t>
            </a:r>
            <a:endParaRPr lang="en-US" sz="1000" dirty="0"/>
          </a:p>
        </p:txBody>
      </p:sp>
      <p:sp>
        <p:nvSpPr>
          <p:cNvPr id="8" name="Shape 6"/>
          <p:cNvSpPr/>
          <p:nvPr/>
        </p:nvSpPr>
        <p:spPr>
          <a:xfrm>
            <a:off x="1783080" y="2651760"/>
            <a:ext cx="1426464" cy="320040"/>
          </a:xfrm>
          <a:prstGeom prst="rect">
            <a:avLst/>
          </a:prstGeom>
          <a:solidFill>
            <a:srgbClr val="2A2A2A"/>
          </a:solidFill>
          <a:ln/>
        </p:spPr>
      </p:sp>
      <p:sp>
        <p:nvSpPr>
          <p:cNvPr id="9" name="Text 7"/>
          <p:cNvSpPr/>
          <p:nvPr/>
        </p:nvSpPr>
        <p:spPr>
          <a:xfrm>
            <a:off x="1783080" y="2651760"/>
            <a:ext cx="1426464" cy="320040"/>
          </a:xfrm>
          <a:prstGeom prst="rect">
            <a:avLst/>
          </a:prstGeom>
          <a:noFill/>
          <a:ln/>
        </p:spPr>
        <p:txBody>
          <a:bodyPr wrap="square" lIns="0" tIns="0" rIns="0" bIns="0" rtlCol="0" anchor="ctr"/>
          <a:lstStyle/>
          <a:p>
            <a:pPr algn="ctr" indent="0" marL="0">
              <a:buNone/>
            </a:pPr>
            <a:r>
              <a:rPr lang="en-US" sz="1000" dirty="0">
                <a:solidFill>
                  <a:srgbClr val="C45C4A"/>
                </a:solidFill>
                <a:latin typeface="Calibri" pitchFamily="34" charset="0"/>
                <a:ea typeface="Calibri" pitchFamily="34" charset="-122"/>
                <a:cs typeface="Calibri" pitchFamily="34" charset="-120"/>
              </a:rPr>
              <a:t>State machines</a:t>
            </a:r>
            <a:endParaRPr lang="en-US" sz="1000" dirty="0"/>
          </a:p>
        </p:txBody>
      </p:sp>
      <p:sp>
        <p:nvSpPr>
          <p:cNvPr id="10" name="Shape 8"/>
          <p:cNvSpPr/>
          <p:nvPr/>
        </p:nvSpPr>
        <p:spPr>
          <a:xfrm>
            <a:off x="3346704" y="2651760"/>
            <a:ext cx="1591056" cy="320040"/>
          </a:xfrm>
          <a:prstGeom prst="rect">
            <a:avLst/>
          </a:prstGeom>
          <a:solidFill>
            <a:srgbClr val="2A2A2A"/>
          </a:solidFill>
          <a:ln/>
        </p:spPr>
      </p:sp>
      <p:sp>
        <p:nvSpPr>
          <p:cNvPr id="11" name="Text 9"/>
          <p:cNvSpPr/>
          <p:nvPr/>
        </p:nvSpPr>
        <p:spPr>
          <a:xfrm>
            <a:off x="3346704" y="2651760"/>
            <a:ext cx="1591056" cy="320040"/>
          </a:xfrm>
          <a:prstGeom prst="rect">
            <a:avLst/>
          </a:prstGeom>
          <a:noFill/>
          <a:ln/>
        </p:spPr>
        <p:txBody>
          <a:bodyPr wrap="square" lIns="0" tIns="0" rIns="0" bIns="0" rtlCol="0" anchor="ctr"/>
          <a:lstStyle/>
          <a:p>
            <a:pPr algn="ctr" indent="0" marL="0">
              <a:buNone/>
            </a:pPr>
            <a:r>
              <a:rPr lang="en-US" sz="1000" dirty="0">
                <a:solidFill>
                  <a:srgbClr val="C45C4A"/>
                </a:solidFill>
                <a:latin typeface="Calibri" pitchFamily="34" charset="0"/>
                <a:ea typeface="Calibri" pitchFamily="34" charset="-122"/>
                <a:cs typeface="Calibri" pitchFamily="34" charset="-120"/>
              </a:rPr>
              <a:t>Behavior scripts</a:t>
            </a:r>
            <a:endParaRPr lang="en-US" sz="1000" dirty="0"/>
          </a:p>
        </p:txBody>
      </p:sp>
      <p:sp>
        <p:nvSpPr>
          <p:cNvPr id="12" name="Shape 10"/>
          <p:cNvSpPr/>
          <p:nvPr/>
        </p:nvSpPr>
        <p:spPr>
          <a:xfrm>
            <a:off x="5074920" y="2651760"/>
            <a:ext cx="1426464" cy="320040"/>
          </a:xfrm>
          <a:prstGeom prst="rect">
            <a:avLst/>
          </a:prstGeom>
          <a:solidFill>
            <a:srgbClr val="2A2A2A"/>
          </a:solidFill>
          <a:ln/>
        </p:spPr>
      </p:sp>
      <p:sp>
        <p:nvSpPr>
          <p:cNvPr id="13" name="Text 11"/>
          <p:cNvSpPr/>
          <p:nvPr/>
        </p:nvSpPr>
        <p:spPr>
          <a:xfrm>
            <a:off x="5074920" y="2651760"/>
            <a:ext cx="1426464" cy="320040"/>
          </a:xfrm>
          <a:prstGeom prst="rect">
            <a:avLst/>
          </a:prstGeom>
          <a:noFill/>
          <a:ln/>
        </p:spPr>
        <p:txBody>
          <a:bodyPr wrap="square" lIns="0" tIns="0" rIns="0" bIns="0" rtlCol="0" anchor="ctr"/>
          <a:lstStyle/>
          <a:p>
            <a:pPr algn="ctr" indent="0" marL="0">
              <a:buNone/>
            </a:pPr>
            <a:r>
              <a:rPr lang="en-US" sz="1000" dirty="0">
                <a:solidFill>
                  <a:srgbClr val="C45C4A"/>
                </a:solidFill>
                <a:latin typeface="Calibri" pitchFamily="34" charset="0"/>
                <a:ea typeface="Calibri" pitchFamily="34" charset="-122"/>
                <a:cs typeface="Calibri" pitchFamily="34" charset="-120"/>
              </a:rPr>
              <a:t>Group dynamics</a:t>
            </a:r>
            <a:endParaRPr lang="en-US" sz="1000" dirty="0"/>
          </a:p>
        </p:txBody>
      </p:sp>
      <p:sp>
        <p:nvSpPr>
          <p:cNvPr id="14" name="Shape 12"/>
          <p:cNvSpPr/>
          <p:nvPr/>
        </p:nvSpPr>
        <p:spPr>
          <a:xfrm>
            <a:off x="731520" y="3840480"/>
            <a:ext cx="7498080" cy="502920"/>
          </a:xfrm>
          <a:prstGeom prst="rect">
            <a:avLst/>
          </a:prstGeom>
          <a:solidFill>
            <a:srgbClr val="1A1A1A"/>
          </a:solidFill>
          <a:ln/>
        </p:spPr>
      </p:sp>
      <p:sp>
        <p:nvSpPr>
          <p:cNvPr id="15" name="Text 13"/>
          <p:cNvSpPr/>
          <p:nvPr/>
        </p:nvSpPr>
        <p:spPr>
          <a:xfrm>
            <a:off x="914400" y="3840480"/>
            <a:ext cx="7132320" cy="5029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Design question: </a:t>
            </a:r>
            <a:pPr indent="0" marL="0">
              <a:buNone/>
            </a:pPr>
            <a:r>
              <a:rPr lang="en-US" sz="1200" i="1" dirty="0">
                <a:solidFill>
                  <a:srgbClr val="C45C4A"/>
                </a:solidFill>
                <a:latin typeface="Calibri" pitchFamily="34" charset="0"/>
                <a:ea typeface="Calibri" pitchFamily="34" charset="-122"/>
                <a:cs typeface="Calibri" pitchFamily="34" charset="-120"/>
              </a:rPr>
              <a:t>Who else is here — and do they care about the participant?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411480"/>
            <a:ext cx="548640" cy="502920"/>
          </a:xfrm>
          <a:prstGeom prst="rect">
            <a:avLst/>
          </a:prstGeom>
          <a:noFill/>
          <a:ln/>
        </p:spPr>
        <p:txBody>
          <a:bodyPr wrap="square" lIns="0" tIns="0" rIns="0" bIns="0" rtlCol="0" anchor="ctr"/>
          <a:lstStyle/>
          <a:p>
            <a:pPr indent="0" marL="0">
              <a:buNone/>
            </a:pPr>
            <a:r>
              <a:rPr lang="en-US" sz="2800" b="1" dirty="0">
                <a:solidFill>
                  <a:srgbClr val="C45C4A"/>
                </a:solidFill>
                <a:latin typeface="Calibri" pitchFamily="34" charset="0"/>
                <a:ea typeface="Calibri" pitchFamily="34" charset="-122"/>
                <a:cs typeface="Calibri" pitchFamily="34" charset="-120"/>
              </a:rPr>
              <a:t>08</a:t>
            </a:r>
            <a:endParaRPr lang="en-US" sz="2800" dirty="0"/>
          </a:p>
        </p:txBody>
      </p:sp>
      <p:sp>
        <p:nvSpPr>
          <p:cNvPr id="3" name="Text 1"/>
          <p:cNvSpPr/>
          <p:nvPr/>
        </p:nvSpPr>
        <p:spPr>
          <a:xfrm>
            <a:off x="1371600" y="438912"/>
            <a:ext cx="68580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Narration</a:t>
            </a:r>
            <a:endParaRPr lang="en-US" sz="2400" dirty="0"/>
          </a:p>
        </p:txBody>
      </p:sp>
      <p:sp>
        <p:nvSpPr>
          <p:cNvPr id="4" name="Shape 2"/>
          <p:cNvSpPr/>
          <p:nvPr/>
        </p:nvSpPr>
        <p:spPr>
          <a:xfrm>
            <a:off x="731520" y="1051560"/>
            <a:ext cx="3200400" cy="27432"/>
          </a:xfrm>
          <a:prstGeom prst="rect">
            <a:avLst/>
          </a:prstGeom>
          <a:solidFill>
            <a:srgbClr val="C45C4A"/>
          </a:solidFill>
          <a:ln/>
        </p:spPr>
      </p:sp>
      <p:sp>
        <p:nvSpPr>
          <p:cNvPr id="5" name="Text 3"/>
          <p:cNvSpPr/>
          <p:nvPr/>
        </p:nvSpPr>
        <p:spPr>
          <a:xfrm>
            <a:off x="731520" y="1280160"/>
            <a:ext cx="7498080" cy="1188720"/>
          </a:xfrm>
          <a:prstGeom prst="rect">
            <a:avLst/>
          </a:prstGeom>
          <a:noFill/>
          <a:ln/>
        </p:spPr>
        <p:txBody>
          <a:bodyPr wrap="square" lIns="0" tIns="0" rIns="0" bIns="0" rtlCol="0" anchor="t"/>
          <a:lstStyle/>
          <a:p>
            <a:pPr indent="0" marL="0">
              <a:lnSpc>
                <a:spcPct val="140000"/>
              </a:lnSpc>
              <a:buNone/>
            </a:pPr>
            <a:r>
              <a:rPr lang="en-US" sz="1400" dirty="0">
                <a:solidFill>
                  <a:srgbClr val="F0F0F0"/>
                </a:solidFill>
                <a:latin typeface="Calibri" pitchFamily="34" charset="0"/>
                <a:ea typeface="Calibri" pitchFamily="34" charset="-122"/>
                <a:cs typeface="Calibri" pitchFamily="34" charset="-120"/>
              </a:rPr>
              <a:t>State machines for experience phases. Branching. Memory. Pacing. The technical backbone that makes everything stateful and multi-phase. Narration in interactive art is not story — it is the arc of agency: how does the participant's relationship to the world change over time?</a:t>
            </a:r>
            <a:endParaRPr lang="en-US" sz="1400" dirty="0"/>
          </a:p>
        </p:txBody>
      </p:sp>
      <p:sp>
        <p:nvSpPr>
          <p:cNvPr id="6" name="Shape 4"/>
          <p:cNvSpPr/>
          <p:nvPr/>
        </p:nvSpPr>
        <p:spPr>
          <a:xfrm>
            <a:off x="731520" y="2651760"/>
            <a:ext cx="1426464" cy="320040"/>
          </a:xfrm>
          <a:prstGeom prst="rect">
            <a:avLst/>
          </a:prstGeom>
          <a:solidFill>
            <a:srgbClr val="2A2A2A"/>
          </a:solidFill>
          <a:ln/>
        </p:spPr>
      </p:sp>
      <p:sp>
        <p:nvSpPr>
          <p:cNvPr id="7" name="Text 5"/>
          <p:cNvSpPr/>
          <p:nvPr/>
        </p:nvSpPr>
        <p:spPr>
          <a:xfrm>
            <a:off x="731520" y="2651760"/>
            <a:ext cx="1426464" cy="320040"/>
          </a:xfrm>
          <a:prstGeom prst="rect">
            <a:avLst/>
          </a:prstGeom>
          <a:noFill/>
          <a:ln/>
        </p:spPr>
        <p:txBody>
          <a:bodyPr wrap="square" lIns="0" tIns="0" rIns="0" bIns="0" rtlCol="0" anchor="ctr"/>
          <a:lstStyle/>
          <a:p>
            <a:pPr algn="ctr" indent="0" marL="0">
              <a:buNone/>
            </a:pPr>
            <a:r>
              <a:rPr lang="en-US" sz="1000" dirty="0">
                <a:solidFill>
                  <a:srgbClr val="C45C4A"/>
                </a:solidFill>
                <a:latin typeface="Calibri" pitchFamily="34" charset="0"/>
                <a:ea typeface="Calibri" pitchFamily="34" charset="-122"/>
                <a:cs typeface="Calibri" pitchFamily="34" charset="-120"/>
              </a:rPr>
              <a:t>State machines</a:t>
            </a:r>
            <a:endParaRPr lang="en-US" sz="1000" dirty="0"/>
          </a:p>
        </p:txBody>
      </p:sp>
      <p:sp>
        <p:nvSpPr>
          <p:cNvPr id="8" name="Shape 6"/>
          <p:cNvSpPr/>
          <p:nvPr/>
        </p:nvSpPr>
        <p:spPr>
          <a:xfrm>
            <a:off x="2295144" y="2651760"/>
            <a:ext cx="1508760" cy="320040"/>
          </a:xfrm>
          <a:prstGeom prst="rect">
            <a:avLst/>
          </a:prstGeom>
          <a:solidFill>
            <a:srgbClr val="2A2A2A"/>
          </a:solidFill>
          <a:ln/>
        </p:spPr>
      </p:sp>
      <p:sp>
        <p:nvSpPr>
          <p:cNvPr id="9" name="Text 7"/>
          <p:cNvSpPr/>
          <p:nvPr/>
        </p:nvSpPr>
        <p:spPr>
          <a:xfrm>
            <a:off x="2295144" y="2651760"/>
            <a:ext cx="1508760" cy="320040"/>
          </a:xfrm>
          <a:prstGeom prst="rect">
            <a:avLst/>
          </a:prstGeom>
          <a:noFill/>
          <a:ln/>
        </p:spPr>
        <p:txBody>
          <a:bodyPr wrap="square" lIns="0" tIns="0" rIns="0" bIns="0" rtlCol="0" anchor="ctr"/>
          <a:lstStyle/>
          <a:p>
            <a:pPr algn="ctr" indent="0" marL="0">
              <a:buNone/>
            </a:pPr>
            <a:r>
              <a:rPr lang="en-US" sz="1000" dirty="0">
                <a:solidFill>
                  <a:srgbClr val="C45C4A"/>
                </a:solidFill>
                <a:latin typeface="Calibri" pitchFamily="34" charset="0"/>
                <a:ea typeface="Calibri" pitchFamily="34" charset="-122"/>
                <a:cs typeface="Calibri" pitchFamily="34" charset="-120"/>
              </a:rPr>
              <a:t>Branching logic</a:t>
            </a:r>
            <a:endParaRPr lang="en-US" sz="1000" dirty="0"/>
          </a:p>
        </p:txBody>
      </p:sp>
      <p:sp>
        <p:nvSpPr>
          <p:cNvPr id="10" name="Shape 8"/>
          <p:cNvSpPr/>
          <p:nvPr/>
        </p:nvSpPr>
        <p:spPr>
          <a:xfrm>
            <a:off x="3941064" y="2651760"/>
            <a:ext cx="1673352" cy="320040"/>
          </a:xfrm>
          <a:prstGeom prst="rect">
            <a:avLst/>
          </a:prstGeom>
          <a:solidFill>
            <a:srgbClr val="2A2A2A"/>
          </a:solidFill>
          <a:ln/>
        </p:spPr>
      </p:sp>
      <p:sp>
        <p:nvSpPr>
          <p:cNvPr id="11" name="Text 9"/>
          <p:cNvSpPr/>
          <p:nvPr/>
        </p:nvSpPr>
        <p:spPr>
          <a:xfrm>
            <a:off x="3941064" y="2651760"/>
            <a:ext cx="1673352" cy="320040"/>
          </a:xfrm>
          <a:prstGeom prst="rect">
            <a:avLst/>
          </a:prstGeom>
          <a:noFill/>
          <a:ln/>
        </p:spPr>
        <p:txBody>
          <a:bodyPr wrap="square" lIns="0" tIns="0" rIns="0" bIns="0" rtlCol="0" anchor="ctr"/>
          <a:lstStyle/>
          <a:p>
            <a:pPr algn="ctr" indent="0" marL="0">
              <a:buNone/>
            </a:pPr>
            <a:r>
              <a:rPr lang="en-US" sz="1000" dirty="0">
                <a:solidFill>
                  <a:srgbClr val="C45C4A"/>
                </a:solidFill>
                <a:latin typeface="Calibri" pitchFamily="34" charset="0"/>
                <a:ea typeface="Calibri" pitchFamily="34" charset="-122"/>
                <a:cs typeface="Calibri" pitchFamily="34" charset="-120"/>
              </a:rPr>
              <a:t>Flags / Variables</a:t>
            </a:r>
            <a:endParaRPr lang="en-US" sz="1000" dirty="0"/>
          </a:p>
        </p:txBody>
      </p:sp>
      <p:sp>
        <p:nvSpPr>
          <p:cNvPr id="12" name="Shape 10"/>
          <p:cNvSpPr/>
          <p:nvPr/>
        </p:nvSpPr>
        <p:spPr>
          <a:xfrm>
            <a:off x="5751576" y="2651760"/>
            <a:ext cx="914400" cy="320040"/>
          </a:xfrm>
          <a:prstGeom prst="rect">
            <a:avLst/>
          </a:prstGeom>
          <a:solidFill>
            <a:srgbClr val="2A2A2A"/>
          </a:solidFill>
          <a:ln/>
        </p:spPr>
      </p:sp>
      <p:sp>
        <p:nvSpPr>
          <p:cNvPr id="13" name="Text 11"/>
          <p:cNvSpPr/>
          <p:nvPr/>
        </p:nvSpPr>
        <p:spPr>
          <a:xfrm>
            <a:off x="5751576" y="2651760"/>
            <a:ext cx="914400" cy="320040"/>
          </a:xfrm>
          <a:prstGeom prst="rect">
            <a:avLst/>
          </a:prstGeom>
          <a:noFill/>
          <a:ln/>
        </p:spPr>
        <p:txBody>
          <a:bodyPr wrap="square" lIns="0" tIns="0" rIns="0" bIns="0" rtlCol="0" anchor="ctr"/>
          <a:lstStyle/>
          <a:p>
            <a:pPr algn="ctr" indent="0" marL="0">
              <a:buNone/>
            </a:pPr>
            <a:r>
              <a:rPr lang="en-US" sz="1000" dirty="0">
                <a:solidFill>
                  <a:srgbClr val="C45C4A"/>
                </a:solidFill>
                <a:latin typeface="Calibri" pitchFamily="34" charset="0"/>
                <a:ea typeface="Calibri" pitchFamily="34" charset="-122"/>
                <a:cs typeface="Calibri" pitchFamily="34" charset="-120"/>
              </a:rPr>
              <a:t>Pacing</a:t>
            </a:r>
            <a:endParaRPr lang="en-US" sz="1000" dirty="0"/>
          </a:p>
        </p:txBody>
      </p:sp>
      <p:sp>
        <p:nvSpPr>
          <p:cNvPr id="14" name="Shape 12"/>
          <p:cNvSpPr/>
          <p:nvPr/>
        </p:nvSpPr>
        <p:spPr>
          <a:xfrm>
            <a:off x="731520" y="3840480"/>
            <a:ext cx="7498080" cy="502920"/>
          </a:xfrm>
          <a:prstGeom prst="rect">
            <a:avLst/>
          </a:prstGeom>
          <a:solidFill>
            <a:srgbClr val="1A1A1A"/>
          </a:solidFill>
          <a:ln/>
        </p:spPr>
      </p:sp>
      <p:sp>
        <p:nvSpPr>
          <p:cNvPr id="15" name="Text 13"/>
          <p:cNvSpPr/>
          <p:nvPr/>
        </p:nvSpPr>
        <p:spPr>
          <a:xfrm>
            <a:off x="914400" y="3840480"/>
            <a:ext cx="7132320" cy="5029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Design question: </a:t>
            </a:r>
            <a:pPr indent="0" marL="0">
              <a:buNone/>
            </a:pPr>
            <a:r>
              <a:rPr lang="en-US" sz="1200" i="1" dirty="0">
                <a:solidFill>
                  <a:srgbClr val="C45C4A"/>
                </a:solidFill>
                <a:latin typeface="Calibri" pitchFamily="34" charset="0"/>
                <a:ea typeface="Calibri" pitchFamily="34" charset="-122"/>
                <a:cs typeface="Calibri" pitchFamily="34" charset="-120"/>
              </a:rPr>
              <a:t>How does the experience change the longer the participant stays?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411480"/>
            <a:ext cx="548640" cy="502920"/>
          </a:xfrm>
          <a:prstGeom prst="rect">
            <a:avLst/>
          </a:prstGeom>
          <a:noFill/>
          <a:ln/>
        </p:spPr>
        <p:txBody>
          <a:bodyPr wrap="square" lIns="0" tIns="0" rIns="0" bIns="0" rtlCol="0" anchor="ctr"/>
          <a:lstStyle/>
          <a:p>
            <a:pPr indent="0" marL="0">
              <a:buNone/>
            </a:pPr>
            <a:r>
              <a:rPr lang="en-US" sz="2800" b="1" dirty="0">
                <a:solidFill>
                  <a:srgbClr val="8B7BB5"/>
                </a:solidFill>
                <a:latin typeface="Calibri" pitchFamily="34" charset="0"/>
                <a:ea typeface="Calibri" pitchFamily="34" charset="-122"/>
                <a:cs typeface="Calibri" pitchFamily="34" charset="-120"/>
              </a:rPr>
              <a:t>09</a:t>
            </a:r>
            <a:endParaRPr lang="en-US" sz="2800" dirty="0"/>
          </a:p>
        </p:txBody>
      </p:sp>
      <p:sp>
        <p:nvSpPr>
          <p:cNvPr id="3" name="Text 1"/>
          <p:cNvSpPr/>
          <p:nvPr/>
        </p:nvSpPr>
        <p:spPr>
          <a:xfrm>
            <a:off x="1371600" y="438912"/>
            <a:ext cx="68580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Input</a:t>
            </a:r>
            <a:endParaRPr lang="en-US" sz="2400" dirty="0"/>
          </a:p>
        </p:txBody>
      </p:sp>
      <p:sp>
        <p:nvSpPr>
          <p:cNvPr id="4" name="Shape 2"/>
          <p:cNvSpPr/>
          <p:nvPr/>
        </p:nvSpPr>
        <p:spPr>
          <a:xfrm>
            <a:off x="731520" y="1051560"/>
            <a:ext cx="3200400" cy="27432"/>
          </a:xfrm>
          <a:prstGeom prst="rect">
            <a:avLst/>
          </a:prstGeom>
          <a:solidFill>
            <a:srgbClr val="8B7BB5"/>
          </a:solidFill>
          <a:ln/>
        </p:spPr>
      </p:sp>
      <p:sp>
        <p:nvSpPr>
          <p:cNvPr id="5" name="Text 3"/>
          <p:cNvSpPr/>
          <p:nvPr/>
        </p:nvSpPr>
        <p:spPr>
          <a:xfrm>
            <a:off x="731520" y="1280160"/>
            <a:ext cx="7498080" cy="1188720"/>
          </a:xfrm>
          <a:prstGeom prst="rect">
            <a:avLst/>
          </a:prstGeom>
          <a:noFill/>
          <a:ln/>
        </p:spPr>
        <p:txBody>
          <a:bodyPr wrap="square" lIns="0" tIns="0" rIns="0" bIns="0" rtlCol="0" anchor="t"/>
          <a:lstStyle/>
          <a:p>
            <a:pPr indent="0" marL="0">
              <a:lnSpc>
                <a:spcPct val="140000"/>
              </a:lnSpc>
              <a:buNone/>
            </a:pPr>
            <a:r>
              <a:rPr lang="en-US" sz="1400" dirty="0">
                <a:solidFill>
                  <a:srgbClr val="F0F0F0"/>
                </a:solidFill>
                <a:latin typeface="Calibri" pitchFamily="34" charset="0"/>
                <a:ea typeface="Calibri" pitchFamily="34" charset="-122"/>
                <a:cs typeface="Calibri" pitchFamily="34" charset="-120"/>
              </a:rPr>
              <a:t>Cross-platform input abstraction. Mouse and keyboard as development stand-in for the real thing. Physical controllers — MIDI, sensors, custom hardware. The principle: design the interaction first, bind the input later. A simulated lever on screen today can become a physical lever in a gallery tomorrow.</a:t>
            </a:r>
            <a:endParaRPr lang="en-US" sz="1400" dirty="0"/>
          </a:p>
        </p:txBody>
      </p:sp>
      <p:sp>
        <p:nvSpPr>
          <p:cNvPr id="6" name="Shape 4"/>
          <p:cNvSpPr/>
          <p:nvPr/>
        </p:nvSpPr>
        <p:spPr>
          <a:xfrm>
            <a:off x="731520" y="2651760"/>
            <a:ext cx="1673352" cy="320040"/>
          </a:xfrm>
          <a:prstGeom prst="rect">
            <a:avLst/>
          </a:prstGeom>
          <a:solidFill>
            <a:srgbClr val="2A2A2A"/>
          </a:solidFill>
          <a:ln/>
        </p:spPr>
      </p:sp>
      <p:sp>
        <p:nvSpPr>
          <p:cNvPr id="7" name="Text 5"/>
          <p:cNvSpPr/>
          <p:nvPr/>
        </p:nvSpPr>
        <p:spPr>
          <a:xfrm>
            <a:off x="731520" y="2651760"/>
            <a:ext cx="1673352" cy="320040"/>
          </a:xfrm>
          <a:prstGeom prst="rect">
            <a:avLst/>
          </a:prstGeom>
          <a:noFill/>
          <a:ln/>
        </p:spPr>
        <p:txBody>
          <a:bodyPr wrap="square" lIns="0" tIns="0" rIns="0" bIns="0" rtlCol="0" anchor="ctr"/>
          <a:lstStyle/>
          <a:p>
            <a:pPr algn="ctr" indent="0" marL="0">
              <a:buNone/>
            </a:pPr>
            <a:r>
              <a:rPr lang="en-US" sz="1000" dirty="0">
                <a:solidFill>
                  <a:srgbClr val="8B7BB5"/>
                </a:solidFill>
                <a:latin typeface="Calibri" pitchFamily="34" charset="0"/>
                <a:ea typeface="Calibri" pitchFamily="34" charset="-122"/>
                <a:cs typeface="Calibri" pitchFamily="34" charset="-120"/>
              </a:rPr>
              <a:t>Input abstraction</a:t>
            </a:r>
            <a:endParaRPr lang="en-US" sz="1000" dirty="0"/>
          </a:p>
        </p:txBody>
      </p:sp>
      <p:sp>
        <p:nvSpPr>
          <p:cNvPr id="8" name="Shape 6"/>
          <p:cNvSpPr/>
          <p:nvPr/>
        </p:nvSpPr>
        <p:spPr>
          <a:xfrm>
            <a:off x="2542032" y="2651760"/>
            <a:ext cx="1097280" cy="320040"/>
          </a:xfrm>
          <a:prstGeom prst="rect">
            <a:avLst/>
          </a:prstGeom>
          <a:solidFill>
            <a:srgbClr val="2A2A2A"/>
          </a:solidFill>
          <a:ln/>
        </p:spPr>
      </p:sp>
      <p:sp>
        <p:nvSpPr>
          <p:cNvPr id="9" name="Text 7"/>
          <p:cNvSpPr/>
          <p:nvPr/>
        </p:nvSpPr>
        <p:spPr>
          <a:xfrm>
            <a:off x="2542032" y="2651760"/>
            <a:ext cx="1097280" cy="320040"/>
          </a:xfrm>
          <a:prstGeom prst="rect">
            <a:avLst/>
          </a:prstGeom>
          <a:noFill/>
          <a:ln/>
        </p:spPr>
        <p:txBody>
          <a:bodyPr wrap="square" lIns="0" tIns="0" rIns="0" bIns="0" rtlCol="0" anchor="ctr"/>
          <a:lstStyle/>
          <a:p>
            <a:pPr algn="ctr" indent="0" marL="0">
              <a:buNone/>
            </a:pPr>
            <a:r>
              <a:rPr lang="en-US" sz="1000" dirty="0">
                <a:solidFill>
                  <a:srgbClr val="8B7BB5"/>
                </a:solidFill>
                <a:latin typeface="Calibri" pitchFamily="34" charset="0"/>
                <a:ea typeface="Calibri" pitchFamily="34" charset="-122"/>
                <a:cs typeface="Calibri" pitchFamily="34" charset="-120"/>
              </a:rPr>
              <a:t>MIDI / OSC</a:t>
            </a:r>
            <a:endParaRPr lang="en-US" sz="1000" dirty="0"/>
          </a:p>
        </p:txBody>
      </p:sp>
      <p:sp>
        <p:nvSpPr>
          <p:cNvPr id="10" name="Shape 8"/>
          <p:cNvSpPr/>
          <p:nvPr/>
        </p:nvSpPr>
        <p:spPr>
          <a:xfrm>
            <a:off x="3776472" y="2651760"/>
            <a:ext cx="914400" cy="320040"/>
          </a:xfrm>
          <a:prstGeom prst="rect">
            <a:avLst/>
          </a:prstGeom>
          <a:solidFill>
            <a:srgbClr val="2A2A2A"/>
          </a:solidFill>
          <a:ln/>
        </p:spPr>
      </p:sp>
      <p:sp>
        <p:nvSpPr>
          <p:cNvPr id="11" name="Text 9"/>
          <p:cNvSpPr/>
          <p:nvPr/>
        </p:nvSpPr>
        <p:spPr>
          <a:xfrm>
            <a:off x="3776472" y="2651760"/>
            <a:ext cx="914400" cy="320040"/>
          </a:xfrm>
          <a:prstGeom prst="rect">
            <a:avLst/>
          </a:prstGeom>
          <a:noFill/>
          <a:ln/>
        </p:spPr>
        <p:txBody>
          <a:bodyPr wrap="square" lIns="0" tIns="0" rIns="0" bIns="0" rtlCol="0" anchor="ctr"/>
          <a:lstStyle/>
          <a:p>
            <a:pPr algn="ctr" indent="0" marL="0">
              <a:buNone/>
            </a:pPr>
            <a:r>
              <a:rPr lang="en-US" sz="1000" dirty="0">
                <a:solidFill>
                  <a:srgbClr val="8B7BB5"/>
                </a:solidFill>
                <a:latin typeface="Calibri" pitchFamily="34" charset="0"/>
                <a:ea typeface="Calibri" pitchFamily="34" charset="-122"/>
                <a:cs typeface="Calibri" pitchFamily="34" charset="-120"/>
              </a:rPr>
              <a:t>Sensors</a:t>
            </a:r>
            <a:endParaRPr lang="en-US" sz="1000" dirty="0"/>
          </a:p>
        </p:txBody>
      </p:sp>
      <p:sp>
        <p:nvSpPr>
          <p:cNvPr id="12" name="Shape 10"/>
          <p:cNvSpPr/>
          <p:nvPr/>
        </p:nvSpPr>
        <p:spPr>
          <a:xfrm>
            <a:off x="4828032" y="2651760"/>
            <a:ext cx="1508760" cy="320040"/>
          </a:xfrm>
          <a:prstGeom prst="rect">
            <a:avLst/>
          </a:prstGeom>
          <a:solidFill>
            <a:srgbClr val="2A2A2A"/>
          </a:solidFill>
          <a:ln/>
        </p:spPr>
      </p:sp>
      <p:sp>
        <p:nvSpPr>
          <p:cNvPr id="13" name="Text 11"/>
          <p:cNvSpPr/>
          <p:nvPr/>
        </p:nvSpPr>
        <p:spPr>
          <a:xfrm>
            <a:off x="4828032" y="2651760"/>
            <a:ext cx="1508760" cy="320040"/>
          </a:xfrm>
          <a:prstGeom prst="rect">
            <a:avLst/>
          </a:prstGeom>
          <a:noFill/>
          <a:ln/>
        </p:spPr>
        <p:txBody>
          <a:bodyPr wrap="square" lIns="0" tIns="0" rIns="0" bIns="0" rtlCol="0" anchor="ctr"/>
          <a:lstStyle/>
          <a:p>
            <a:pPr algn="ctr" indent="0" marL="0">
              <a:buNone/>
            </a:pPr>
            <a:r>
              <a:rPr lang="en-US" sz="1000" dirty="0">
                <a:solidFill>
                  <a:srgbClr val="8B7BB5"/>
                </a:solidFill>
                <a:latin typeface="Calibri" pitchFamily="34" charset="0"/>
                <a:ea typeface="Calibri" pitchFamily="34" charset="-122"/>
                <a:cs typeface="Calibri" pitchFamily="34" charset="-120"/>
              </a:rPr>
              <a:t>Custom hardware</a:t>
            </a:r>
            <a:endParaRPr lang="en-US" sz="1000" dirty="0"/>
          </a:p>
        </p:txBody>
      </p:sp>
      <p:sp>
        <p:nvSpPr>
          <p:cNvPr id="14" name="Shape 12"/>
          <p:cNvSpPr/>
          <p:nvPr/>
        </p:nvSpPr>
        <p:spPr>
          <a:xfrm>
            <a:off x="731520" y="3840480"/>
            <a:ext cx="7498080" cy="502920"/>
          </a:xfrm>
          <a:prstGeom prst="rect">
            <a:avLst/>
          </a:prstGeom>
          <a:solidFill>
            <a:srgbClr val="1A1A1A"/>
          </a:solidFill>
          <a:ln/>
        </p:spPr>
      </p:sp>
      <p:sp>
        <p:nvSpPr>
          <p:cNvPr id="15" name="Text 13"/>
          <p:cNvSpPr/>
          <p:nvPr/>
        </p:nvSpPr>
        <p:spPr>
          <a:xfrm>
            <a:off x="914400" y="3840480"/>
            <a:ext cx="7132320" cy="5029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Design question: </a:t>
            </a:r>
            <a:pPr indent="0" marL="0">
              <a:buNone/>
            </a:pPr>
            <a:r>
              <a:rPr lang="en-US" sz="1200" i="1" dirty="0">
                <a:solidFill>
                  <a:srgbClr val="8B7BB5"/>
                </a:solidFill>
                <a:latin typeface="Calibri" pitchFamily="34" charset="0"/>
                <a:ea typeface="Calibri" pitchFamily="34" charset="-122"/>
                <a:cs typeface="Calibri" pitchFamily="34" charset="-120"/>
              </a:rPr>
              <a:t>How does the participant physically engage — and what else could they use?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411480"/>
            <a:ext cx="548640" cy="502920"/>
          </a:xfrm>
          <a:prstGeom prst="rect">
            <a:avLst/>
          </a:prstGeom>
          <a:noFill/>
          <a:ln/>
        </p:spPr>
        <p:txBody>
          <a:bodyPr wrap="square" lIns="0" tIns="0" rIns="0" bIns="0" rtlCol="0" anchor="ctr"/>
          <a:lstStyle/>
          <a:p>
            <a:pPr indent="0" marL="0">
              <a:buNone/>
            </a:pPr>
            <a:r>
              <a:rPr lang="en-US" sz="2800" b="1" dirty="0">
                <a:solidFill>
                  <a:srgbClr val="8B7BB5"/>
                </a:solidFill>
                <a:latin typeface="Calibri" pitchFamily="34" charset="0"/>
                <a:ea typeface="Calibri" pitchFamily="34" charset="-122"/>
                <a:cs typeface="Calibri" pitchFamily="34" charset="-120"/>
              </a:rPr>
              <a:t>10</a:t>
            </a:r>
            <a:endParaRPr lang="en-US" sz="2800" dirty="0"/>
          </a:p>
        </p:txBody>
      </p:sp>
      <p:sp>
        <p:nvSpPr>
          <p:cNvPr id="3" name="Text 1"/>
          <p:cNvSpPr/>
          <p:nvPr/>
        </p:nvSpPr>
        <p:spPr>
          <a:xfrm>
            <a:off x="1371600" y="438912"/>
            <a:ext cx="68580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Installation</a:t>
            </a:r>
            <a:endParaRPr lang="en-US" sz="2400" dirty="0"/>
          </a:p>
        </p:txBody>
      </p:sp>
      <p:sp>
        <p:nvSpPr>
          <p:cNvPr id="4" name="Shape 2"/>
          <p:cNvSpPr/>
          <p:nvPr/>
        </p:nvSpPr>
        <p:spPr>
          <a:xfrm>
            <a:off x="731520" y="1051560"/>
            <a:ext cx="3200400" cy="27432"/>
          </a:xfrm>
          <a:prstGeom prst="rect">
            <a:avLst/>
          </a:prstGeom>
          <a:solidFill>
            <a:srgbClr val="8B7BB5"/>
          </a:solidFill>
          <a:ln/>
        </p:spPr>
      </p:sp>
      <p:sp>
        <p:nvSpPr>
          <p:cNvPr id="5" name="Text 3"/>
          <p:cNvSpPr/>
          <p:nvPr/>
        </p:nvSpPr>
        <p:spPr>
          <a:xfrm>
            <a:off x="731520" y="1280160"/>
            <a:ext cx="7498080" cy="1188720"/>
          </a:xfrm>
          <a:prstGeom prst="rect">
            <a:avLst/>
          </a:prstGeom>
          <a:noFill/>
          <a:ln/>
        </p:spPr>
        <p:txBody>
          <a:bodyPr wrap="square" lIns="0" tIns="0" rIns="0" bIns="0" rtlCol="0" anchor="t"/>
          <a:lstStyle/>
          <a:p>
            <a:pPr indent="0" marL="0">
              <a:lnSpc>
                <a:spcPct val="140000"/>
              </a:lnSpc>
              <a:buNone/>
            </a:pPr>
            <a:r>
              <a:rPr lang="en-US" sz="1400" dirty="0">
                <a:solidFill>
                  <a:srgbClr val="F0F0F0"/>
                </a:solidFill>
                <a:latin typeface="Calibri" pitchFamily="34" charset="0"/>
                <a:ea typeface="Calibri" pitchFamily="34" charset="-122"/>
                <a:cs typeface="Calibri" pitchFamily="34" charset="-120"/>
              </a:rPr>
              <a:t>The interaction between physical and digital worlds. How a digital experience inhabits a real space — projection, screens, spatial audio, physical objects that communicate with software. Sensor-driven inputs, responsive environments, the blurring of boundaries between what is computed and what is built.</a:t>
            </a:r>
            <a:endParaRPr lang="en-US" sz="1400" dirty="0"/>
          </a:p>
        </p:txBody>
      </p:sp>
      <p:sp>
        <p:nvSpPr>
          <p:cNvPr id="6" name="Shape 4"/>
          <p:cNvSpPr/>
          <p:nvPr/>
        </p:nvSpPr>
        <p:spPr>
          <a:xfrm>
            <a:off x="731520" y="2651760"/>
            <a:ext cx="1920240" cy="320040"/>
          </a:xfrm>
          <a:prstGeom prst="rect">
            <a:avLst/>
          </a:prstGeom>
          <a:solidFill>
            <a:srgbClr val="2A2A2A"/>
          </a:solidFill>
          <a:ln/>
        </p:spPr>
      </p:sp>
      <p:sp>
        <p:nvSpPr>
          <p:cNvPr id="7" name="Text 5"/>
          <p:cNvSpPr/>
          <p:nvPr/>
        </p:nvSpPr>
        <p:spPr>
          <a:xfrm>
            <a:off x="731520" y="2651760"/>
            <a:ext cx="1920240" cy="320040"/>
          </a:xfrm>
          <a:prstGeom prst="rect">
            <a:avLst/>
          </a:prstGeom>
          <a:noFill/>
          <a:ln/>
        </p:spPr>
        <p:txBody>
          <a:bodyPr wrap="square" lIns="0" tIns="0" rIns="0" bIns="0" rtlCol="0" anchor="ctr"/>
          <a:lstStyle/>
          <a:p>
            <a:pPr algn="ctr" indent="0" marL="0">
              <a:buNone/>
            </a:pPr>
            <a:r>
              <a:rPr lang="en-US" sz="1000" dirty="0">
                <a:solidFill>
                  <a:srgbClr val="8B7BB5"/>
                </a:solidFill>
                <a:latin typeface="Calibri" pitchFamily="34" charset="0"/>
                <a:ea typeface="Calibri" pitchFamily="34" charset="-122"/>
                <a:cs typeface="Calibri" pitchFamily="34" charset="-120"/>
              </a:rPr>
              <a:t>Projection / Screens</a:t>
            </a:r>
            <a:endParaRPr lang="en-US" sz="1000" dirty="0"/>
          </a:p>
        </p:txBody>
      </p:sp>
      <p:sp>
        <p:nvSpPr>
          <p:cNvPr id="8" name="Shape 6"/>
          <p:cNvSpPr/>
          <p:nvPr/>
        </p:nvSpPr>
        <p:spPr>
          <a:xfrm>
            <a:off x="2788920" y="2651760"/>
            <a:ext cx="1344168" cy="320040"/>
          </a:xfrm>
          <a:prstGeom prst="rect">
            <a:avLst/>
          </a:prstGeom>
          <a:solidFill>
            <a:srgbClr val="2A2A2A"/>
          </a:solidFill>
          <a:ln/>
        </p:spPr>
      </p:sp>
      <p:sp>
        <p:nvSpPr>
          <p:cNvPr id="9" name="Text 7"/>
          <p:cNvSpPr/>
          <p:nvPr/>
        </p:nvSpPr>
        <p:spPr>
          <a:xfrm>
            <a:off x="2788920" y="2651760"/>
            <a:ext cx="1344168" cy="320040"/>
          </a:xfrm>
          <a:prstGeom prst="rect">
            <a:avLst/>
          </a:prstGeom>
          <a:noFill/>
          <a:ln/>
        </p:spPr>
        <p:txBody>
          <a:bodyPr wrap="square" lIns="0" tIns="0" rIns="0" bIns="0" rtlCol="0" anchor="ctr"/>
          <a:lstStyle/>
          <a:p>
            <a:pPr algn="ctr" indent="0" marL="0">
              <a:buNone/>
            </a:pPr>
            <a:r>
              <a:rPr lang="en-US" sz="1000" dirty="0">
                <a:solidFill>
                  <a:srgbClr val="8B7BB5"/>
                </a:solidFill>
                <a:latin typeface="Calibri" pitchFamily="34" charset="0"/>
                <a:ea typeface="Calibri" pitchFamily="34" charset="-122"/>
                <a:cs typeface="Calibri" pitchFamily="34" charset="-120"/>
              </a:rPr>
              <a:t>Spatial audio</a:t>
            </a:r>
            <a:endParaRPr lang="en-US" sz="1000" dirty="0"/>
          </a:p>
        </p:txBody>
      </p:sp>
      <p:sp>
        <p:nvSpPr>
          <p:cNvPr id="10" name="Shape 8"/>
          <p:cNvSpPr/>
          <p:nvPr/>
        </p:nvSpPr>
        <p:spPr>
          <a:xfrm>
            <a:off x="4270248" y="2651760"/>
            <a:ext cx="2167128" cy="320040"/>
          </a:xfrm>
          <a:prstGeom prst="rect">
            <a:avLst/>
          </a:prstGeom>
          <a:solidFill>
            <a:srgbClr val="2A2A2A"/>
          </a:solidFill>
          <a:ln/>
        </p:spPr>
      </p:sp>
      <p:sp>
        <p:nvSpPr>
          <p:cNvPr id="11" name="Text 9"/>
          <p:cNvSpPr/>
          <p:nvPr/>
        </p:nvSpPr>
        <p:spPr>
          <a:xfrm>
            <a:off x="4270248" y="2651760"/>
            <a:ext cx="2167128" cy="320040"/>
          </a:xfrm>
          <a:prstGeom prst="rect">
            <a:avLst/>
          </a:prstGeom>
          <a:noFill/>
          <a:ln/>
        </p:spPr>
        <p:txBody>
          <a:bodyPr wrap="square" lIns="0" tIns="0" rIns="0" bIns="0" rtlCol="0" anchor="ctr"/>
          <a:lstStyle/>
          <a:p>
            <a:pPr algn="ctr" indent="0" marL="0">
              <a:buNone/>
            </a:pPr>
            <a:r>
              <a:rPr lang="en-US" sz="1000" dirty="0">
                <a:solidFill>
                  <a:srgbClr val="8B7BB5"/>
                </a:solidFill>
                <a:latin typeface="Calibri" pitchFamily="34" charset="0"/>
                <a:ea typeface="Calibri" pitchFamily="34" charset="-122"/>
                <a:cs typeface="Calibri" pitchFamily="34" charset="-120"/>
              </a:rPr>
              <a:t>Physical-digital bridge</a:t>
            </a:r>
            <a:endParaRPr lang="en-US" sz="1000" dirty="0"/>
          </a:p>
        </p:txBody>
      </p:sp>
      <p:sp>
        <p:nvSpPr>
          <p:cNvPr id="12" name="Shape 10"/>
          <p:cNvSpPr/>
          <p:nvPr/>
        </p:nvSpPr>
        <p:spPr>
          <a:xfrm>
            <a:off x="6574536" y="2651760"/>
            <a:ext cx="914400" cy="320040"/>
          </a:xfrm>
          <a:prstGeom prst="rect">
            <a:avLst/>
          </a:prstGeom>
          <a:solidFill>
            <a:srgbClr val="2A2A2A"/>
          </a:solidFill>
          <a:ln/>
        </p:spPr>
      </p:sp>
      <p:sp>
        <p:nvSpPr>
          <p:cNvPr id="13" name="Text 11"/>
          <p:cNvSpPr/>
          <p:nvPr/>
        </p:nvSpPr>
        <p:spPr>
          <a:xfrm>
            <a:off x="6574536" y="2651760"/>
            <a:ext cx="914400" cy="320040"/>
          </a:xfrm>
          <a:prstGeom prst="rect">
            <a:avLst/>
          </a:prstGeom>
          <a:noFill/>
          <a:ln/>
        </p:spPr>
        <p:txBody>
          <a:bodyPr wrap="square" lIns="0" tIns="0" rIns="0" bIns="0" rtlCol="0" anchor="ctr"/>
          <a:lstStyle/>
          <a:p>
            <a:pPr algn="ctr" indent="0" marL="0">
              <a:buNone/>
            </a:pPr>
            <a:r>
              <a:rPr lang="en-US" sz="1000" dirty="0">
                <a:solidFill>
                  <a:srgbClr val="8B7BB5"/>
                </a:solidFill>
                <a:latin typeface="Calibri" pitchFamily="34" charset="0"/>
                <a:ea typeface="Calibri" pitchFamily="34" charset="-122"/>
                <a:cs typeface="Calibri" pitchFamily="34" charset="-120"/>
              </a:rPr>
              <a:t>Sensors</a:t>
            </a:r>
            <a:endParaRPr lang="en-US" sz="1000" dirty="0"/>
          </a:p>
        </p:txBody>
      </p:sp>
      <p:sp>
        <p:nvSpPr>
          <p:cNvPr id="14" name="Shape 12"/>
          <p:cNvSpPr/>
          <p:nvPr/>
        </p:nvSpPr>
        <p:spPr>
          <a:xfrm>
            <a:off x="731520" y="3840480"/>
            <a:ext cx="7498080" cy="502920"/>
          </a:xfrm>
          <a:prstGeom prst="rect">
            <a:avLst/>
          </a:prstGeom>
          <a:solidFill>
            <a:srgbClr val="1A1A1A"/>
          </a:solidFill>
          <a:ln/>
        </p:spPr>
      </p:sp>
      <p:sp>
        <p:nvSpPr>
          <p:cNvPr id="15" name="Text 13"/>
          <p:cNvSpPr/>
          <p:nvPr/>
        </p:nvSpPr>
        <p:spPr>
          <a:xfrm>
            <a:off x="914400" y="3840480"/>
            <a:ext cx="7132320" cy="5029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Design question: </a:t>
            </a:r>
            <a:pPr indent="0" marL="0">
              <a:buNone/>
            </a:pPr>
            <a:r>
              <a:rPr lang="en-US" sz="1200" i="1" dirty="0">
                <a:solidFill>
                  <a:srgbClr val="8B7BB5"/>
                </a:solidFill>
                <a:latin typeface="Calibri" pitchFamily="34" charset="0"/>
                <a:ea typeface="Calibri" pitchFamily="34" charset="-122"/>
                <a:cs typeface="Calibri" pitchFamily="34" charset="-120"/>
              </a:rPr>
              <a:t>Where does the digital end and the physical begin?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45C4A"/>
          </a:solidFill>
          <a:ln/>
        </p:spPr>
      </p:sp>
      <p:sp>
        <p:nvSpPr>
          <p:cNvPr id="3" name="Text 1"/>
          <p:cNvSpPr/>
          <p:nvPr/>
        </p:nvSpPr>
        <p:spPr>
          <a:xfrm>
            <a:off x="731520" y="1645920"/>
            <a:ext cx="7315200" cy="914400"/>
          </a:xfrm>
          <a:prstGeom prst="rect">
            <a:avLst/>
          </a:prstGeom>
          <a:noFill/>
          <a:ln/>
        </p:spPr>
        <p:txBody>
          <a:bodyPr wrap="square" lIns="0" tIns="0" rIns="0" bIns="0" rtlCol="0" anchor="ctr"/>
          <a:lstStyle/>
          <a:p>
            <a:pPr indent="0" marL="0">
              <a:buNone/>
            </a:pPr>
            <a:r>
              <a:rPr lang="en-US" sz="3200" b="1" spc="300" kern="0" dirty="0">
                <a:solidFill>
                  <a:srgbClr val="FFFFFF"/>
                </a:solidFill>
                <a:latin typeface="Calibri" pitchFamily="34" charset="0"/>
                <a:ea typeface="Calibri" pitchFamily="34" charset="-122"/>
                <a:cs typeface="Calibri" pitchFamily="34" charset="-120"/>
              </a:rPr>
              <a:t>SYNTAX</a:t>
            </a:r>
            <a:endParaRPr lang="en-US" sz="3200" dirty="0"/>
          </a:p>
        </p:txBody>
      </p:sp>
      <p:sp>
        <p:nvSpPr>
          <p:cNvPr id="4" name="Text 2"/>
          <p:cNvSpPr/>
          <p:nvPr/>
        </p:nvSpPr>
        <p:spPr>
          <a:xfrm>
            <a:off x="731520" y="2651760"/>
            <a:ext cx="7315200" cy="548640"/>
          </a:xfrm>
          <a:prstGeom prst="rect">
            <a:avLst/>
          </a:prstGeom>
          <a:noFill/>
          <a:ln/>
        </p:spPr>
        <p:txBody>
          <a:bodyPr wrap="square" lIns="0" tIns="0" rIns="0" bIns="0" rtlCol="0" anchor="ctr"/>
          <a:lstStyle/>
          <a:p>
            <a:pPr indent="0" marL="0">
              <a:buNone/>
            </a:pPr>
            <a:r>
              <a:rPr lang="en-US" sz="1400" dirty="0">
                <a:solidFill>
                  <a:srgbClr val="999999"/>
                </a:solidFill>
                <a:latin typeface="Calibri" pitchFamily="34" charset="0"/>
                <a:ea typeface="Calibri" pitchFamily="34" charset="-122"/>
                <a:cs typeface="Calibri" pitchFamily="34" charset="-120"/>
              </a:rPr>
              <a:t>How it's built. The technical architecture — three layers, one principle.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36576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latin typeface="Calibri" pitchFamily="34" charset="0"/>
                <a:ea typeface="Calibri" pitchFamily="34" charset="-122"/>
                <a:cs typeface="Calibri" pitchFamily="34" charset="-120"/>
              </a:rPr>
              <a:t>DATA · SIMULATION · PRESENTATION</a:t>
            </a:r>
            <a:endParaRPr lang="en-US" sz="2000" dirty="0"/>
          </a:p>
        </p:txBody>
      </p:sp>
      <p:sp>
        <p:nvSpPr>
          <p:cNvPr id="3" name="Shape 1"/>
          <p:cNvSpPr/>
          <p:nvPr/>
        </p:nvSpPr>
        <p:spPr>
          <a:xfrm>
            <a:off x="731520" y="914400"/>
            <a:ext cx="2286000" cy="27432"/>
          </a:xfrm>
          <a:prstGeom prst="rect">
            <a:avLst/>
          </a:prstGeom>
          <a:solidFill>
            <a:srgbClr val="C45C4A"/>
          </a:solidFill>
          <a:ln/>
        </p:spPr>
      </p:sp>
      <p:sp>
        <p:nvSpPr>
          <p:cNvPr id="4" name="Shape 2"/>
          <p:cNvSpPr/>
          <p:nvPr/>
        </p:nvSpPr>
        <p:spPr>
          <a:xfrm>
            <a:off x="731520" y="1188720"/>
            <a:ext cx="7680960" cy="1005840"/>
          </a:xfrm>
          <a:prstGeom prst="rect">
            <a:avLst/>
          </a:prstGeom>
          <a:solidFill>
            <a:srgbClr val="1A1A1A"/>
          </a:solidFill>
          <a:ln/>
        </p:spPr>
      </p:sp>
      <p:sp>
        <p:nvSpPr>
          <p:cNvPr id="5" name="Shape 3"/>
          <p:cNvSpPr/>
          <p:nvPr/>
        </p:nvSpPr>
        <p:spPr>
          <a:xfrm>
            <a:off x="731520" y="1188720"/>
            <a:ext cx="54864" cy="1005840"/>
          </a:xfrm>
          <a:prstGeom prst="rect">
            <a:avLst/>
          </a:prstGeom>
          <a:solidFill>
            <a:srgbClr val="8B7BB5"/>
          </a:solidFill>
          <a:ln/>
        </p:spPr>
      </p:sp>
      <p:sp>
        <p:nvSpPr>
          <p:cNvPr id="6" name="Text 4"/>
          <p:cNvSpPr/>
          <p:nvPr/>
        </p:nvSpPr>
        <p:spPr>
          <a:xfrm>
            <a:off x="1005840" y="1280160"/>
            <a:ext cx="2743200" cy="320040"/>
          </a:xfrm>
          <a:prstGeom prst="rect">
            <a:avLst/>
          </a:prstGeom>
          <a:noFill/>
          <a:ln/>
        </p:spPr>
        <p:txBody>
          <a:bodyPr wrap="square" lIns="0" tIns="0" rIns="0" bIns="0" rtlCol="0" anchor="ctr"/>
          <a:lstStyle/>
          <a:p>
            <a:pPr indent="0" marL="0">
              <a:buNone/>
            </a:pPr>
            <a:r>
              <a:rPr lang="en-US" sz="1300" b="1" spc="200" kern="0" dirty="0">
                <a:solidFill>
                  <a:srgbClr val="8B7BB5"/>
                </a:solidFill>
                <a:latin typeface="Calibri" pitchFamily="34" charset="0"/>
                <a:ea typeface="Calibri" pitchFamily="34" charset="-122"/>
                <a:cs typeface="Calibri" pitchFamily="34" charset="-120"/>
              </a:rPr>
              <a:t>PRESENTATION</a:t>
            </a:r>
            <a:endParaRPr lang="en-US" sz="1300" dirty="0"/>
          </a:p>
        </p:txBody>
      </p:sp>
      <p:sp>
        <p:nvSpPr>
          <p:cNvPr id="7" name="Text 5"/>
          <p:cNvSpPr/>
          <p:nvPr/>
        </p:nvSpPr>
        <p:spPr>
          <a:xfrm>
            <a:off x="1005840" y="1600200"/>
            <a:ext cx="7132320" cy="502920"/>
          </a:xfrm>
          <a:prstGeom prst="rect">
            <a:avLst/>
          </a:prstGeom>
          <a:noFill/>
          <a:ln/>
        </p:spPr>
        <p:txBody>
          <a:bodyPr wrap="square" lIns="0" tIns="0" rIns="0" bIns="0" rtlCol="0" anchor="ctr"/>
          <a:lstStyle/>
          <a:p>
            <a:pPr indent="0" marL="0">
              <a:lnSpc>
                <a:spcPct val="125000"/>
              </a:lnSpc>
              <a:buNone/>
            </a:pPr>
            <a:r>
              <a:rPr lang="en-US" sz="1100" dirty="0">
                <a:solidFill>
                  <a:srgbClr val="999999"/>
                </a:solidFill>
                <a:latin typeface="Calibri" pitchFamily="34" charset="0"/>
                <a:ea typeface="Calibri" pitchFamily="34" charset="-122"/>
                <a:cs typeface="Calibri" pitchFamily="34" charset="-120"/>
              </a:rPr>
              <a:t>How the world responds — what the participant sees, hears, feels.</a:t>
            </a:r>
            <a:endParaRPr lang="en-US" sz="1100" dirty="0"/>
          </a:p>
          <a:p>
            <a:pPr indent="0" marL="0">
              <a:lnSpc>
                <a:spcPct val="125000"/>
              </a:lnSpc>
              <a:buNone/>
            </a:pPr>
            <a:r>
              <a:rPr lang="en-US" sz="1100" dirty="0">
                <a:solidFill>
                  <a:srgbClr val="999999"/>
                </a:solidFill>
                <a:latin typeface="Calibri" pitchFamily="34" charset="0"/>
                <a:ea typeface="Calibri" pitchFamily="34" charset="-122"/>
                <a:cs typeface="Calibri" pitchFamily="34" charset="-120"/>
              </a:rPr>
              <a:t>Visual · Audio · Effects · Camera · UI</a:t>
            </a:r>
            <a:endParaRPr lang="en-US" sz="1100" dirty="0"/>
          </a:p>
        </p:txBody>
      </p:sp>
      <p:sp>
        <p:nvSpPr>
          <p:cNvPr id="8" name="Shape 6"/>
          <p:cNvSpPr/>
          <p:nvPr/>
        </p:nvSpPr>
        <p:spPr>
          <a:xfrm>
            <a:off x="731520" y="2377440"/>
            <a:ext cx="7680960" cy="1005840"/>
          </a:xfrm>
          <a:prstGeom prst="rect">
            <a:avLst/>
          </a:prstGeom>
          <a:solidFill>
            <a:srgbClr val="1A1A1A"/>
          </a:solidFill>
          <a:ln/>
        </p:spPr>
      </p:sp>
      <p:sp>
        <p:nvSpPr>
          <p:cNvPr id="9" name="Shape 7"/>
          <p:cNvSpPr/>
          <p:nvPr/>
        </p:nvSpPr>
        <p:spPr>
          <a:xfrm>
            <a:off x="731520" y="2377440"/>
            <a:ext cx="54864" cy="1005840"/>
          </a:xfrm>
          <a:prstGeom prst="rect">
            <a:avLst/>
          </a:prstGeom>
          <a:solidFill>
            <a:srgbClr val="6B9EBF"/>
          </a:solidFill>
          <a:ln/>
        </p:spPr>
      </p:sp>
      <p:sp>
        <p:nvSpPr>
          <p:cNvPr id="10" name="Text 8"/>
          <p:cNvSpPr/>
          <p:nvPr/>
        </p:nvSpPr>
        <p:spPr>
          <a:xfrm>
            <a:off x="1005840" y="2468880"/>
            <a:ext cx="2743200" cy="320040"/>
          </a:xfrm>
          <a:prstGeom prst="rect">
            <a:avLst/>
          </a:prstGeom>
          <a:noFill/>
          <a:ln/>
        </p:spPr>
        <p:txBody>
          <a:bodyPr wrap="square" lIns="0" tIns="0" rIns="0" bIns="0" rtlCol="0" anchor="ctr"/>
          <a:lstStyle/>
          <a:p>
            <a:pPr indent="0" marL="0">
              <a:buNone/>
            </a:pPr>
            <a:r>
              <a:rPr lang="en-US" sz="1300" b="1" spc="200" kern="0" dirty="0">
                <a:solidFill>
                  <a:srgbClr val="6B9EBF"/>
                </a:solidFill>
                <a:latin typeface="Calibri" pitchFamily="34" charset="0"/>
                <a:ea typeface="Calibri" pitchFamily="34" charset="-122"/>
                <a:cs typeface="Calibri" pitchFamily="34" charset="-120"/>
              </a:rPr>
              <a:t>SIMULATION</a:t>
            </a:r>
            <a:endParaRPr lang="en-US" sz="1300" dirty="0"/>
          </a:p>
        </p:txBody>
      </p:sp>
      <p:sp>
        <p:nvSpPr>
          <p:cNvPr id="11" name="Text 9"/>
          <p:cNvSpPr/>
          <p:nvPr/>
        </p:nvSpPr>
        <p:spPr>
          <a:xfrm>
            <a:off x="1005840" y="2788920"/>
            <a:ext cx="7132320" cy="502920"/>
          </a:xfrm>
          <a:prstGeom prst="rect">
            <a:avLst/>
          </a:prstGeom>
          <a:noFill/>
          <a:ln/>
        </p:spPr>
        <p:txBody>
          <a:bodyPr wrap="square" lIns="0" tIns="0" rIns="0" bIns="0" rtlCol="0" anchor="ctr"/>
          <a:lstStyle/>
          <a:p>
            <a:pPr indent="0" marL="0">
              <a:lnSpc>
                <a:spcPct val="125000"/>
              </a:lnSpc>
              <a:buNone/>
            </a:pPr>
            <a:r>
              <a:rPr lang="en-US" sz="1100" dirty="0">
                <a:solidFill>
                  <a:srgbClr val="999999"/>
                </a:solidFill>
                <a:latin typeface="Calibri" pitchFamily="34" charset="0"/>
                <a:ea typeface="Calibri" pitchFamily="34" charset="-122"/>
                <a:cs typeface="Calibri" pitchFamily="34" charset="-120"/>
              </a:rPr>
              <a:t>What the world does — detection, decisions, sequences, state changes.</a:t>
            </a:r>
            <a:endParaRPr lang="en-US" sz="1100" dirty="0"/>
          </a:p>
          <a:p>
            <a:pPr indent="0" marL="0">
              <a:lnSpc>
                <a:spcPct val="125000"/>
              </a:lnSpc>
              <a:buNone/>
            </a:pPr>
            <a:r>
              <a:rPr lang="en-US" sz="1100" dirty="0">
                <a:solidFill>
                  <a:srgbClr val="999999"/>
                </a:solidFill>
                <a:latin typeface="Calibri" pitchFamily="34" charset="0"/>
                <a:ea typeface="Calibri" pitchFamily="34" charset="-122"/>
                <a:cs typeface="Calibri" pitchFamily="34" charset="-120"/>
              </a:rPr>
              <a:t>Triggers · Sequencing · State · Actions · Managers</a:t>
            </a:r>
            <a:endParaRPr lang="en-US" sz="1100" dirty="0"/>
          </a:p>
        </p:txBody>
      </p:sp>
      <p:sp>
        <p:nvSpPr>
          <p:cNvPr id="12" name="Shape 10"/>
          <p:cNvSpPr/>
          <p:nvPr/>
        </p:nvSpPr>
        <p:spPr>
          <a:xfrm>
            <a:off x="731520" y="3566160"/>
            <a:ext cx="7680960" cy="1005840"/>
          </a:xfrm>
          <a:prstGeom prst="rect">
            <a:avLst/>
          </a:prstGeom>
          <a:solidFill>
            <a:srgbClr val="1A1A1A"/>
          </a:solidFill>
          <a:ln/>
        </p:spPr>
      </p:sp>
      <p:sp>
        <p:nvSpPr>
          <p:cNvPr id="13" name="Shape 11"/>
          <p:cNvSpPr/>
          <p:nvPr/>
        </p:nvSpPr>
        <p:spPr>
          <a:xfrm>
            <a:off x="731520" y="3566160"/>
            <a:ext cx="54864" cy="1005840"/>
          </a:xfrm>
          <a:prstGeom prst="rect">
            <a:avLst/>
          </a:prstGeom>
          <a:solidFill>
            <a:srgbClr val="D4A853"/>
          </a:solidFill>
          <a:ln/>
        </p:spPr>
      </p:sp>
      <p:sp>
        <p:nvSpPr>
          <p:cNvPr id="14" name="Text 12"/>
          <p:cNvSpPr/>
          <p:nvPr/>
        </p:nvSpPr>
        <p:spPr>
          <a:xfrm>
            <a:off x="1005840" y="3657600"/>
            <a:ext cx="2743200" cy="320040"/>
          </a:xfrm>
          <a:prstGeom prst="rect">
            <a:avLst/>
          </a:prstGeom>
          <a:noFill/>
          <a:ln/>
        </p:spPr>
        <p:txBody>
          <a:bodyPr wrap="square" lIns="0" tIns="0" rIns="0" bIns="0" rtlCol="0" anchor="ctr"/>
          <a:lstStyle/>
          <a:p>
            <a:pPr indent="0" marL="0">
              <a:buNone/>
            </a:pPr>
            <a:r>
              <a:rPr lang="en-US" sz="1300" b="1" spc="200" kern="0" dirty="0">
                <a:solidFill>
                  <a:srgbClr val="D4A853"/>
                </a:solidFill>
                <a:latin typeface="Calibri" pitchFamily="34" charset="0"/>
                <a:ea typeface="Calibri" pitchFamily="34" charset="-122"/>
                <a:cs typeface="Calibri" pitchFamily="34" charset="-120"/>
              </a:rPr>
              <a:t>DATA</a:t>
            </a:r>
            <a:endParaRPr lang="en-US" sz="1300" dirty="0"/>
          </a:p>
        </p:txBody>
      </p:sp>
      <p:sp>
        <p:nvSpPr>
          <p:cNvPr id="15" name="Text 13"/>
          <p:cNvSpPr/>
          <p:nvPr/>
        </p:nvSpPr>
        <p:spPr>
          <a:xfrm>
            <a:off x="1005840" y="3977640"/>
            <a:ext cx="7132320" cy="502920"/>
          </a:xfrm>
          <a:prstGeom prst="rect">
            <a:avLst/>
          </a:prstGeom>
          <a:noFill/>
          <a:ln/>
        </p:spPr>
        <p:txBody>
          <a:bodyPr wrap="square" lIns="0" tIns="0" rIns="0" bIns="0" rtlCol="0" anchor="ctr"/>
          <a:lstStyle/>
          <a:p>
            <a:pPr indent="0" marL="0">
              <a:lnSpc>
                <a:spcPct val="125000"/>
              </a:lnSpc>
              <a:buNone/>
            </a:pPr>
            <a:r>
              <a:rPr lang="en-US" sz="1100" dirty="0">
                <a:solidFill>
                  <a:srgbClr val="999999"/>
                </a:solidFill>
                <a:latin typeface="Calibri" pitchFamily="34" charset="0"/>
                <a:ea typeface="Calibri" pitchFamily="34" charset="-122"/>
                <a:cs typeface="Calibri" pitchFamily="34" charset="-120"/>
              </a:rPr>
              <a:t>What things are — shared variables, event channels, configuration.</a:t>
            </a:r>
            <a:endParaRPr lang="en-US" sz="1100" dirty="0"/>
          </a:p>
          <a:p>
            <a:pPr indent="0" marL="0">
              <a:lnSpc>
                <a:spcPct val="125000"/>
              </a:lnSpc>
              <a:buNone/>
            </a:pPr>
            <a:r>
              <a:rPr lang="en-US" sz="1100" dirty="0">
                <a:solidFill>
                  <a:srgbClr val="999999"/>
                </a:solidFill>
                <a:latin typeface="Calibri" pitchFamily="34" charset="0"/>
                <a:ea typeface="Calibri" pitchFamily="34" charset="-122"/>
                <a:cs typeface="Calibri" pitchFamily="34" charset="-120"/>
              </a:rPr>
              <a:t>Variables · Events · Configuration Assets</a:t>
            </a:r>
            <a:endParaRPr lang="en-US" sz="1100" dirty="0"/>
          </a:p>
        </p:txBody>
      </p:sp>
      <p:sp>
        <p:nvSpPr>
          <p:cNvPr id="16" name="Text 14"/>
          <p:cNvSpPr/>
          <p:nvPr/>
        </p:nvSpPr>
        <p:spPr>
          <a:xfrm>
            <a:off x="3657600" y="2240280"/>
            <a:ext cx="2743200" cy="182880"/>
          </a:xfrm>
          <a:prstGeom prst="rect">
            <a:avLst/>
          </a:prstGeom>
          <a:noFill/>
          <a:ln/>
        </p:spPr>
        <p:txBody>
          <a:bodyPr wrap="square" lIns="0" tIns="0" rIns="0" bIns="0"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 reads from / triggered by</a:t>
            </a:r>
            <a:endParaRPr lang="en-US" sz="900" dirty="0"/>
          </a:p>
        </p:txBody>
      </p:sp>
      <p:sp>
        <p:nvSpPr>
          <p:cNvPr id="17" name="Text 15"/>
          <p:cNvSpPr/>
          <p:nvPr/>
        </p:nvSpPr>
        <p:spPr>
          <a:xfrm>
            <a:off x="3657600" y="3429000"/>
            <a:ext cx="2743200" cy="182880"/>
          </a:xfrm>
          <a:prstGeom prst="rect">
            <a:avLst/>
          </a:prstGeom>
          <a:noFill/>
          <a:ln/>
        </p:spPr>
        <p:txBody>
          <a:bodyPr wrap="square" lIns="0" tIns="0" rIns="0" bIns="0"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 reads from</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365760"/>
            <a:ext cx="73152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How It Wires Together</a:t>
            </a:r>
            <a:endParaRPr lang="en-US" sz="2200" dirty="0"/>
          </a:p>
        </p:txBody>
      </p:sp>
      <p:sp>
        <p:nvSpPr>
          <p:cNvPr id="3" name="Shape 1"/>
          <p:cNvSpPr/>
          <p:nvPr/>
        </p:nvSpPr>
        <p:spPr>
          <a:xfrm>
            <a:off x="731520" y="896112"/>
            <a:ext cx="1828800" cy="27432"/>
          </a:xfrm>
          <a:prstGeom prst="rect">
            <a:avLst/>
          </a:prstGeom>
          <a:solidFill>
            <a:srgbClr val="C45C4A"/>
          </a:solidFill>
          <a:ln/>
        </p:spPr>
      </p:sp>
      <p:sp>
        <p:nvSpPr>
          <p:cNvPr id="4" name="Text 2"/>
          <p:cNvSpPr/>
          <p:nvPr/>
        </p:nvSpPr>
        <p:spPr>
          <a:xfrm>
            <a:off x="731520" y="1097280"/>
            <a:ext cx="7315200" cy="365760"/>
          </a:xfrm>
          <a:prstGeom prst="rect">
            <a:avLst/>
          </a:prstGeom>
          <a:noFill/>
          <a:ln/>
        </p:spPr>
        <p:txBody>
          <a:bodyPr wrap="square" lIns="0" tIns="0" rIns="0" bIns="0" rtlCol="0" anchor="ctr"/>
          <a:lstStyle/>
          <a:p>
            <a:pPr indent="0" marL="0">
              <a:buNone/>
            </a:pPr>
            <a:r>
              <a:rPr lang="en-US" sz="1300" i="1" dirty="0">
                <a:solidFill>
                  <a:srgbClr val="999999"/>
                </a:solidFill>
                <a:latin typeface="Calibri" pitchFamily="34" charset="0"/>
                <a:ea typeface="Calibri" pitchFamily="34" charset="-122"/>
                <a:cs typeface="Calibri" pitchFamily="34" charset="-120"/>
              </a:rPr>
              <a:t>A room that darkens when you enter and remembers your visit:</a:t>
            </a:r>
            <a:endParaRPr lang="en-US" sz="1300" dirty="0"/>
          </a:p>
        </p:txBody>
      </p:sp>
      <p:sp>
        <p:nvSpPr>
          <p:cNvPr id="5" name="Shape 3"/>
          <p:cNvSpPr/>
          <p:nvPr/>
        </p:nvSpPr>
        <p:spPr>
          <a:xfrm>
            <a:off x="731520" y="1645920"/>
            <a:ext cx="594360" cy="274320"/>
          </a:xfrm>
          <a:prstGeom prst="rect">
            <a:avLst/>
          </a:prstGeom>
          <a:solidFill>
            <a:srgbClr val="2A2A2A"/>
          </a:solidFill>
          <a:ln/>
        </p:spPr>
      </p:sp>
      <p:sp>
        <p:nvSpPr>
          <p:cNvPr id="6" name="Text 4"/>
          <p:cNvSpPr/>
          <p:nvPr/>
        </p:nvSpPr>
        <p:spPr>
          <a:xfrm>
            <a:off x="731520" y="1645920"/>
            <a:ext cx="594360" cy="274320"/>
          </a:xfrm>
          <a:prstGeom prst="rect">
            <a:avLst/>
          </a:prstGeom>
          <a:noFill/>
          <a:ln/>
        </p:spPr>
        <p:txBody>
          <a:bodyPr wrap="square" lIns="0" tIns="0" rIns="0" bIns="0" rtlCol="0" anchor="ctr"/>
          <a:lstStyle/>
          <a:p>
            <a:pPr algn="ctr" indent="0" marL="0">
              <a:buNone/>
            </a:pPr>
            <a:r>
              <a:rPr lang="en-US" sz="800" b="1" dirty="0">
                <a:solidFill>
                  <a:srgbClr val="6B9EBF"/>
                </a:solidFill>
                <a:latin typeface="Calibri" pitchFamily="34" charset="0"/>
                <a:ea typeface="Calibri" pitchFamily="34" charset="-122"/>
                <a:cs typeface="Calibri" pitchFamily="34" charset="-120"/>
              </a:rPr>
              <a:t>SIM</a:t>
            </a:r>
            <a:endParaRPr lang="en-US" sz="800" dirty="0"/>
          </a:p>
        </p:txBody>
      </p:sp>
      <p:sp>
        <p:nvSpPr>
          <p:cNvPr id="7" name="Text 5"/>
          <p:cNvSpPr/>
          <p:nvPr/>
        </p:nvSpPr>
        <p:spPr>
          <a:xfrm>
            <a:off x="1463040" y="1645920"/>
            <a:ext cx="3200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ProximityTrigger</a:t>
            </a:r>
            <a:endParaRPr lang="en-US" sz="1200" dirty="0"/>
          </a:p>
        </p:txBody>
      </p:sp>
      <p:sp>
        <p:nvSpPr>
          <p:cNvPr id="8" name="Text 6"/>
          <p:cNvSpPr/>
          <p:nvPr/>
        </p:nvSpPr>
        <p:spPr>
          <a:xfrm>
            <a:off x="4754880" y="1645920"/>
            <a:ext cx="3657600" cy="27432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detects player entering</a:t>
            </a:r>
            <a:endParaRPr lang="en-US" sz="1100" dirty="0"/>
          </a:p>
        </p:txBody>
      </p:sp>
      <p:sp>
        <p:nvSpPr>
          <p:cNvPr id="9" name="Shape 7"/>
          <p:cNvSpPr/>
          <p:nvPr/>
        </p:nvSpPr>
        <p:spPr>
          <a:xfrm>
            <a:off x="731520" y="2057400"/>
            <a:ext cx="594360" cy="274320"/>
          </a:xfrm>
          <a:prstGeom prst="rect">
            <a:avLst/>
          </a:prstGeom>
          <a:solidFill>
            <a:srgbClr val="2A2A2A"/>
          </a:solidFill>
          <a:ln/>
        </p:spPr>
      </p:sp>
      <p:sp>
        <p:nvSpPr>
          <p:cNvPr id="10" name="Text 8"/>
          <p:cNvSpPr/>
          <p:nvPr/>
        </p:nvSpPr>
        <p:spPr>
          <a:xfrm>
            <a:off x="731520" y="2057400"/>
            <a:ext cx="594360" cy="274320"/>
          </a:xfrm>
          <a:prstGeom prst="rect">
            <a:avLst/>
          </a:prstGeom>
          <a:noFill/>
          <a:ln/>
        </p:spPr>
        <p:txBody>
          <a:bodyPr wrap="square" lIns="0" tIns="0" rIns="0" bIns="0" rtlCol="0" anchor="ctr"/>
          <a:lstStyle/>
          <a:p>
            <a:pPr algn="ctr" indent="0" marL="0">
              <a:buNone/>
            </a:pPr>
            <a:r>
              <a:rPr lang="en-US" sz="800" b="1" dirty="0">
                <a:solidFill>
                  <a:srgbClr val="6B9EBF"/>
                </a:solidFill>
                <a:latin typeface="Calibri" pitchFamily="34" charset="0"/>
                <a:ea typeface="Calibri" pitchFamily="34" charset="-122"/>
                <a:cs typeface="Calibri" pitchFamily="34" charset="-120"/>
              </a:rPr>
              <a:t>SIM</a:t>
            </a:r>
            <a:endParaRPr lang="en-US" sz="800" dirty="0"/>
          </a:p>
        </p:txBody>
      </p:sp>
      <p:sp>
        <p:nvSpPr>
          <p:cNvPr id="11" name="Text 9"/>
          <p:cNvSpPr/>
          <p:nvPr/>
        </p:nvSpPr>
        <p:spPr>
          <a:xfrm>
            <a:off x="1463040" y="2057400"/>
            <a:ext cx="3200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ModifyVariable</a:t>
            </a:r>
            <a:endParaRPr lang="en-US" sz="1200" dirty="0"/>
          </a:p>
        </p:txBody>
      </p:sp>
      <p:sp>
        <p:nvSpPr>
          <p:cNvPr id="12" name="Text 10"/>
          <p:cNvSpPr/>
          <p:nvPr/>
        </p:nvSpPr>
        <p:spPr>
          <a:xfrm>
            <a:off x="4754880" y="2057400"/>
            <a:ext cx="3657600" cy="27432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visitCount +1</a:t>
            </a:r>
            <a:endParaRPr lang="en-US" sz="1100" dirty="0"/>
          </a:p>
        </p:txBody>
      </p:sp>
      <p:sp>
        <p:nvSpPr>
          <p:cNvPr id="13" name="Shape 11"/>
          <p:cNvSpPr/>
          <p:nvPr/>
        </p:nvSpPr>
        <p:spPr>
          <a:xfrm>
            <a:off x="731520" y="2468880"/>
            <a:ext cx="594360" cy="274320"/>
          </a:xfrm>
          <a:prstGeom prst="rect">
            <a:avLst/>
          </a:prstGeom>
          <a:solidFill>
            <a:srgbClr val="2A2A2A"/>
          </a:solidFill>
          <a:ln/>
        </p:spPr>
      </p:sp>
      <p:sp>
        <p:nvSpPr>
          <p:cNvPr id="14" name="Text 12"/>
          <p:cNvSpPr/>
          <p:nvPr/>
        </p:nvSpPr>
        <p:spPr>
          <a:xfrm>
            <a:off x="731520" y="2468880"/>
            <a:ext cx="594360" cy="274320"/>
          </a:xfrm>
          <a:prstGeom prst="rect">
            <a:avLst/>
          </a:prstGeom>
          <a:noFill/>
          <a:ln/>
        </p:spPr>
        <p:txBody>
          <a:bodyPr wrap="square" lIns="0" tIns="0" rIns="0" bIns="0" rtlCol="0" anchor="ctr"/>
          <a:lstStyle/>
          <a:p>
            <a:pPr algn="ctr" indent="0" marL="0">
              <a:buNone/>
            </a:pPr>
            <a:r>
              <a:rPr lang="en-US" sz="800" b="1" dirty="0">
                <a:solidFill>
                  <a:srgbClr val="6B9EBF"/>
                </a:solidFill>
                <a:latin typeface="Calibri" pitchFamily="34" charset="0"/>
                <a:ea typeface="Calibri" pitchFamily="34" charset="-122"/>
                <a:cs typeface="Calibri" pitchFamily="34" charset="-120"/>
              </a:rPr>
              <a:t>SIM</a:t>
            </a:r>
            <a:endParaRPr lang="en-US" sz="800" dirty="0"/>
          </a:p>
        </p:txBody>
      </p:sp>
      <p:sp>
        <p:nvSpPr>
          <p:cNvPr id="15" name="Text 13"/>
          <p:cNvSpPr/>
          <p:nvPr/>
        </p:nvSpPr>
        <p:spPr>
          <a:xfrm>
            <a:off x="1463040" y="2468880"/>
            <a:ext cx="3200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SetVariable</a:t>
            </a:r>
            <a:endParaRPr lang="en-US" sz="1200" dirty="0"/>
          </a:p>
        </p:txBody>
      </p:sp>
      <p:sp>
        <p:nvSpPr>
          <p:cNvPr id="16" name="Text 14"/>
          <p:cNvSpPr/>
          <p:nvPr/>
        </p:nvSpPr>
        <p:spPr>
          <a:xfrm>
            <a:off x="4754880" y="2468880"/>
            <a:ext cx="3657600" cy="27432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playerInRoom → true</a:t>
            </a:r>
            <a:endParaRPr lang="en-US" sz="1100" dirty="0"/>
          </a:p>
        </p:txBody>
      </p:sp>
      <p:sp>
        <p:nvSpPr>
          <p:cNvPr id="17" name="Shape 15"/>
          <p:cNvSpPr/>
          <p:nvPr/>
        </p:nvSpPr>
        <p:spPr>
          <a:xfrm>
            <a:off x="731520" y="2880360"/>
            <a:ext cx="594360" cy="274320"/>
          </a:xfrm>
          <a:prstGeom prst="rect">
            <a:avLst/>
          </a:prstGeom>
          <a:solidFill>
            <a:srgbClr val="2A2A2A"/>
          </a:solidFill>
          <a:ln/>
        </p:spPr>
      </p:sp>
      <p:sp>
        <p:nvSpPr>
          <p:cNvPr id="18" name="Text 16"/>
          <p:cNvSpPr/>
          <p:nvPr/>
        </p:nvSpPr>
        <p:spPr>
          <a:xfrm>
            <a:off x="731520" y="2880360"/>
            <a:ext cx="594360" cy="274320"/>
          </a:xfrm>
          <a:prstGeom prst="rect">
            <a:avLst/>
          </a:prstGeom>
          <a:noFill/>
          <a:ln/>
        </p:spPr>
        <p:txBody>
          <a:bodyPr wrap="square" lIns="0" tIns="0" rIns="0" bIns="0" rtlCol="0" anchor="ctr"/>
          <a:lstStyle/>
          <a:p>
            <a:pPr algn="ctr" indent="0" marL="0">
              <a:buNone/>
            </a:pPr>
            <a:r>
              <a:rPr lang="en-US" sz="800" b="1" dirty="0">
                <a:solidFill>
                  <a:srgbClr val="6B9EBF"/>
                </a:solidFill>
                <a:latin typeface="Calibri" pitchFamily="34" charset="0"/>
                <a:ea typeface="Calibri" pitchFamily="34" charset="-122"/>
                <a:cs typeface="Calibri" pitchFamily="34" charset="-120"/>
              </a:rPr>
              <a:t>SIM</a:t>
            </a:r>
            <a:endParaRPr lang="en-US" sz="800" dirty="0"/>
          </a:p>
        </p:txBody>
      </p:sp>
      <p:sp>
        <p:nvSpPr>
          <p:cNvPr id="19" name="Text 17"/>
          <p:cNvSpPr/>
          <p:nvPr/>
        </p:nvSpPr>
        <p:spPr>
          <a:xfrm>
            <a:off x="1463040" y="2880360"/>
            <a:ext cx="3200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SequenceRunner</a:t>
            </a:r>
            <a:endParaRPr lang="en-US" sz="1200" dirty="0"/>
          </a:p>
        </p:txBody>
      </p:sp>
      <p:sp>
        <p:nvSpPr>
          <p:cNvPr id="20" name="Text 18"/>
          <p:cNvSpPr/>
          <p:nvPr/>
        </p:nvSpPr>
        <p:spPr>
          <a:xfrm>
            <a:off x="4754880" y="2880360"/>
            <a:ext cx="3657600" cy="27432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orchestrates timing:</a:t>
            </a:r>
            <a:endParaRPr lang="en-US" sz="1100" dirty="0"/>
          </a:p>
        </p:txBody>
      </p:sp>
      <p:sp>
        <p:nvSpPr>
          <p:cNvPr id="21" name="Shape 19"/>
          <p:cNvSpPr/>
          <p:nvPr/>
        </p:nvSpPr>
        <p:spPr>
          <a:xfrm>
            <a:off x="731520" y="3246120"/>
            <a:ext cx="594360" cy="274320"/>
          </a:xfrm>
          <a:prstGeom prst="rect">
            <a:avLst/>
          </a:prstGeom>
          <a:solidFill>
            <a:srgbClr val="2A2A2A"/>
          </a:solidFill>
          <a:ln/>
        </p:spPr>
      </p:sp>
      <p:sp>
        <p:nvSpPr>
          <p:cNvPr id="22" name="Text 20"/>
          <p:cNvSpPr/>
          <p:nvPr/>
        </p:nvSpPr>
        <p:spPr>
          <a:xfrm>
            <a:off x="731520" y="3246120"/>
            <a:ext cx="594360" cy="274320"/>
          </a:xfrm>
          <a:prstGeom prst="rect">
            <a:avLst/>
          </a:prstGeom>
          <a:noFill/>
          <a:ln/>
        </p:spPr>
        <p:txBody>
          <a:bodyPr wrap="square" lIns="0" tIns="0" rIns="0" bIns="0" rtlCol="0" anchor="ctr"/>
          <a:lstStyle/>
          <a:p>
            <a:pPr algn="ctr" indent="0" marL="0">
              <a:buNone/>
            </a:pPr>
            <a:r>
              <a:rPr lang="en-US" sz="800" b="1" dirty="0">
                <a:solidFill>
                  <a:srgbClr val="8B7BB5"/>
                </a:solidFill>
                <a:latin typeface="Calibri" pitchFamily="34" charset="0"/>
                <a:ea typeface="Calibri" pitchFamily="34" charset="-122"/>
                <a:cs typeface="Calibri" pitchFamily="34" charset="-120"/>
              </a:rPr>
              <a:t>PRES</a:t>
            </a:r>
            <a:endParaRPr lang="en-US" sz="800" dirty="0"/>
          </a:p>
        </p:txBody>
      </p:sp>
      <p:sp>
        <p:nvSpPr>
          <p:cNvPr id="23" name="Text 21"/>
          <p:cNvSpPr/>
          <p:nvPr/>
        </p:nvSpPr>
        <p:spPr>
          <a:xfrm>
            <a:off x="1463040" y="3246120"/>
            <a:ext cx="3200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LightController.FadeTo(0.2)</a:t>
            </a:r>
            <a:endParaRPr lang="en-US" sz="1200" dirty="0"/>
          </a:p>
        </p:txBody>
      </p:sp>
      <p:sp>
        <p:nvSpPr>
          <p:cNvPr id="24" name="Shape 22"/>
          <p:cNvSpPr/>
          <p:nvPr/>
        </p:nvSpPr>
        <p:spPr>
          <a:xfrm>
            <a:off x="731520" y="3520440"/>
            <a:ext cx="594360" cy="274320"/>
          </a:xfrm>
          <a:prstGeom prst="rect">
            <a:avLst/>
          </a:prstGeom>
          <a:solidFill>
            <a:srgbClr val="2A2A2A"/>
          </a:solidFill>
          <a:ln/>
        </p:spPr>
      </p:sp>
      <p:sp>
        <p:nvSpPr>
          <p:cNvPr id="25" name="Text 23"/>
          <p:cNvSpPr/>
          <p:nvPr/>
        </p:nvSpPr>
        <p:spPr>
          <a:xfrm>
            <a:off x="731520" y="3520440"/>
            <a:ext cx="594360" cy="274320"/>
          </a:xfrm>
          <a:prstGeom prst="rect">
            <a:avLst/>
          </a:prstGeom>
          <a:noFill/>
          <a:ln/>
        </p:spPr>
        <p:txBody>
          <a:bodyPr wrap="square" lIns="0" tIns="0" rIns="0" bIns="0" rtlCol="0" anchor="ctr"/>
          <a:lstStyle/>
          <a:p>
            <a:pPr algn="ctr" indent="0" marL="0">
              <a:buNone/>
            </a:pPr>
            <a:r>
              <a:rPr lang="en-US" sz="800" b="1" dirty="0">
                <a:solidFill>
                  <a:srgbClr val="8B7BB5"/>
                </a:solidFill>
                <a:latin typeface="Calibri" pitchFamily="34" charset="0"/>
                <a:ea typeface="Calibri" pitchFamily="34" charset="-122"/>
                <a:cs typeface="Calibri" pitchFamily="34" charset="-120"/>
              </a:rPr>
              <a:t>PRES</a:t>
            </a:r>
            <a:endParaRPr lang="en-US" sz="800" dirty="0"/>
          </a:p>
        </p:txBody>
      </p:sp>
      <p:sp>
        <p:nvSpPr>
          <p:cNvPr id="26" name="Text 24"/>
          <p:cNvSpPr/>
          <p:nvPr/>
        </p:nvSpPr>
        <p:spPr>
          <a:xfrm>
            <a:off x="1463040" y="3520440"/>
            <a:ext cx="3200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SoundPlayer.Play()</a:t>
            </a:r>
            <a:endParaRPr lang="en-US" sz="1200" dirty="0"/>
          </a:p>
        </p:txBody>
      </p:sp>
      <p:sp>
        <p:nvSpPr>
          <p:cNvPr id="27" name="Shape 25"/>
          <p:cNvSpPr/>
          <p:nvPr/>
        </p:nvSpPr>
        <p:spPr>
          <a:xfrm>
            <a:off x="731520" y="3794760"/>
            <a:ext cx="594360" cy="274320"/>
          </a:xfrm>
          <a:prstGeom prst="rect">
            <a:avLst/>
          </a:prstGeom>
          <a:solidFill>
            <a:srgbClr val="2A2A2A"/>
          </a:solidFill>
          <a:ln/>
        </p:spPr>
      </p:sp>
      <p:sp>
        <p:nvSpPr>
          <p:cNvPr id="28" name="Text 26"/>
          <p:cNvSpPr/>
          <p:nvPr/>
        </p:nvSpPr>
        <p:spPr>
          <a:xfrm>
            <a:off x="731520" y="3794760"/>
            <a:ext cx="594360" cy="274320"/>
          </a:xfrm>
          <a:prstGeom prst="rect">
            <a:avLst/>
          </a:prstGeom>
          <a:noFill/>
          <a:ln/>
        </p:spPr>
        <p:txBody>
          <a:bodyPr wrap="square" lIns="0" tIns="0" rIns="0" bIns="0" rtlCol="0" anchor="ctr"/>
          <a:lstStyle/>
          <a:p>
            <a:pPr algn="ctr" indent="0" marL="0">
              <a:buNone/>
            </a:pPr>
            <a:r>
              <a:rPr lang="en-US" sz="800" b="1" dirty="0">
                <a:solidFill>
                  <a:srgbClr val="8B7BB5"/>
                </a:solidFill>
                <a:latin typeface="Calibri" pitchFamily="34" charset="0"/>
                <a:ea typeface="Calibri" pitchFamily="34" charset="-122"/>
                <a:cs typeface="Calibri" pitchFamily="34" charset="-120"/>
              </a:rPr>
              <a:t>PRES</a:t>
            </a:r>
            <a:endParaRPr lang="en-US" sz="800" dirty="0"/>
          </a:p>
        </p:txBody>
      </p:sp>
      <p:sp>
        <p:nvSpPr>
          <p:cNvPr id="29" name="Text 27"/>
          <p:cNvSpPr/>
          <p:nvPr/>
        </p:nvSpPr>
        <p:spPr>
          <a:xfrm>
            <a:off x="1463040" y="3794760"/>
            <a:ext cx="3200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EnvironmentChanger.SetFog(0.8)</a:t>
            </a:r>
            <a:endParaRPr lang="en-US" sz="1200" dirty="0"/>
          </a:p>
        </p:txBody>
      </p:sp>
      <p:sp>
        <p:nvSpPr>
          <p:cNvPr id="30" name="Text 28"/>
          <p:cNvSpPr/>
          <p:nvPr/>
        </p:nvSpPr>
        <p:spPr>
          <a:xfrm>
            <a:off x="731520" y="4343400"/>
            <a:ext cx="7315200" cy="365760"/>
          </a:xfrm>
          <a:prstGeom prst="rect">
            <a:avLst/>
          </a:prstGeom>
          <a:noFill/>
          <a:ln/>
        </p:spPr>
        <p:txBody>
          <a:bodyPr wrap="square" lIns="0" tIns="0" rIns="0" bIns="0" rtlCol="0" anchor="ctr"/>
          <a:lstStyle/>
          <a:p>
            <a:pPr indent="0" marL="0">
              <a:buNone/>
            </a:pPr>
            <a:r>
              <a:rPr lang="en-US" sz="1100" i="1" dirty="0">
                <a:solidFill>
                  <a:srgbClr val="666666"/>
                </a:solidFill>
                <a:latin typeface="Calibri" pitchFamily="34" charset="0"/>
                <a:ea typeface="Calibri" pitchFamily="34" charset="-122"/>
                <a:cs typeface="Calibri" pitchFamily="34" charset="-120"/>
              </a:rPr>
              <a:t>Everything visible in the Inspector. Everything configurable. No code written.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731520" y="365760"/>
            <a:ext cx="73152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How Students Progress</a:t>
            </a:r>
            <a:endParaRPr lang="en-US" sz="2200" dirty="0"/>
          </a:p>
        </p:txBody>
      </p:sp>
      <p:sp>
        <p:nvSpPr>
          <p:cNvPr id="3" name="Shape 1"/>
          <p:cNvSpPr/>
          <p:nvPr/>
        </p:nvSpPr>
        <p:spPr>
          <a:xfrm>
            <a:off x="731520" y="896112"/>
            <a:ext cx="1828800" cy="27432"/>
          </a:xfrm>
          <a:prstGeom prst="rect">
            <a:avLst/>
          </a:prstGeom>
          <a:solidFill>
            <a:srgbClr val="C45C4A"/>
          </a:solidFill>
          <a:ln/>
        </p:spPr>
      </p:sp>
      <p:sp>
        <p:nvSpPr>
          <p:cNvPr id="4" name="Shape 2"/>
          <p:cNvSpPr/>
          <p:nvPr/>
        </p:nvSpPr>
        <p:spPr>
          <a:xfrm>
            <a:off x="731520" y="1371600"/>
            <a:ext cx="1828800" cy="2926080"/>
          </a:xfrm>
          <a:prstGeom prst="rect">
            <a:avLst/>
          </a:prstGeom>
          <a:solidFill>
            <a:srgbClr val="1A1A1A"/>
          </a:solidFill>
          <a:ln/>
        </p:spPr>
      </p:sp>
      <p:sp>
        <p:nvSpPr>
          <p:cNvPr id="5" name="Shape 3"/>
          <p:cNvSpPr/>
          <p:nvPr/>
        </p:nvSpPr>
        <p:spPr>
          <a:xfrm>
            <a:off x="731520" y="1371600"/>
            <a:ext cx="1828800" cy="36576"/>
          </a:xfrm>
          <a:prstGeom prst="rect">
            <a:avLst/>
          </a:prstGeom>
          <a:solidFill>
            <a:srgbClr val="D4A853"/>
          </a:solidFill>
          <a:ln/>
        </p:spPr>
      </p:sp>
      <p:sp>
        <p:nvSpPr>
          <p:cNvPr id="6" name="Text 4"/>
          <p:cNvSpPr/>
          <p:nvPr/>
        </p:nvSpPr>
        <p:spPr>
          <a:xfrm>
            <a:off x="868680" y="1554480"/>
            <a:ext cx="457200" cy="457200"/>
          </a:xfrm>
          <a:prstGeom prst="rect">
            <a:avLst/>
          </a:prstGeom>
          <a:noFill/>
          <a:ln/>
        </p:spPr>
        <p:txBody>
          <a:bodyPr wrap="square" lIns="0" tIns="0" rIns="0" bIns="0" rtlCol="0" anchor="ctr"/>
          <a:lstStyle/>
          <a:p>
            <a:pPr indent="0" marL="0">
              <a:buNone/>
            </a:pPr>
            <a:r>
              <a:rPr lang="en-US" sz="2800" b="1" dirty="0">
                <a:solidFill>
                  <a:srgbClr val="D4A853"/>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868680" y="2057400"/>
            <a:ext cx="15544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Replicate</a:t>
            </a:r>
            <a:endParaRPr lang="en-US" sz="1400" dirty="0"/>
          </a:p>
        </p:txBody>
      </p:sp>
      <p:sp>
        <p:nvSpPr>
          <p:cNvPr id="8" name="Text 6"/>
          <p:cNvSpPr/>
          <p:nvPr/>
        </p:nvSpPr>
        <p:spPr>
          <a:xfrm>
            <a:off x="868680" y="2468880"/>
            <a:ext cx="1554480" cy="1645920"/>
          </a:xfrm>
          <a:prstGeom prst="rect">
            <a:avLst/>
          </a:prstGeom>
          <a:noFill/>
          <a:ln/>
        </p:spPr>
        <p:txBody>
          <a:bodyPr wrap="square" lIns="0" tIns="0" rIns="0" bIns="0" rtlCol="0" anchor="ctr"/>
          <a:lstStyle/>
          <a:p>
            <a:pPr indent="0" marL="0">
              <a:lnSpc>
                <a:spcPct val="130000"/>
              </a:lnSpc>
              <a:buNone/>
            </a:pPr>
            <a:r>
              <a:rPr lang="en-US" sz="1000" dirty="0">
                <a:solidFill>
                  <a:srgbClr val="999999"/>
                </a:solidFill>
                <a:latin typeface="Calibri" pitchFamily="34" charset="0"/>
                <a:ea typeface="Calibri" pitchFamily="34" charset="-122"/>
                <a:cs typeface="Calibri" pitchFamily="34" charset="-120"/>
              </a:rPr>
              <a:t>Copy the demo scene. Rebuild it step by step.</a:t>
            </a:r>
            <a:endParaRPr lang="en-US" sz="1000" dirty="0"/>
          </a:p>
          <a:p>
            <a:pPr indent="0" marL="0">
              <a:lnSpc>
                <a:spcPct val="130000"/>
              </a:lnSpc>
              <a:buNone/>
            </a:pPr>
            <a:r>
              <a:rPr lang="en-US" sz="1000" dirty="0">
                <a:solidFill>
                  <a:srgbClr val="999999"/>
                </a:solidFill>
                <a:latin typeface="Calibri" pitchFamily="34" charset="0"/>
                <a:ea typeface="Calibri" pitchFamily="34" charset="-122"/>
                <a:cs typeface="Calibri" pitchFamily="34" charset="-120"/>
              </a:rPr>
              <a:t>"I can assemble this from the same parts."</a:t>
            </a:r>
            <a:endParaRPr lang="en-US" sz="1000" dirty="0"/>
          </a:p>
        </p:txBody>
      </p:sp>
      <p:sp>
        <p:nvSpPr>
          <p:cNvPr id="9" name="Shape 7"/>
          <p:cNvSpPr/>
          <p:nvPr/>
        </p:nvSpPr>
        <p:spPr>
          <a:xfrm>
            <a:off x="2788920" y="1371600"/>
            <a:ext cx="1828800" cy="2926080"/>
          </a:xfrm>
          <a:prstGeom prst="rect">
            <a:avLst/>
          </a:prstGeom>
          <a:solidFill>
            <a:srgbClr val="1A1A1A"/>
          </a:solidFill>
          <a:ln/>
        </p:spPr>
      </p:sp>
      <p:sp>
        <p:nvSpPr>
          <p:cNvPr id="10" name="Shape 8"/>
          <p:cNvSpPr/>
          <p:nvPr/>
        </p:nvSpPr>
        <p:spPr>
          <a:xfrm>
            <a:off x="2788920" y="1371600"/>
            <a:ext cx="1828800" cy="36576"/>
          </a:xfrm>
          <a:prstGeom prst="rect">
            <a:avLst/>
          </a:prstGeom>
          <a:solidFill>
            <a:srgbClr val="D4A853"/>
          </a:solidFill>
          <a:ln/>
        </p:spPr>
      </p:sp>
      <p:sp>
        <p:nvSpPr>
          <p:cNvPr id="11" name="Text 9"/>
          <p:cNvSpPr/>
          <p:nvPr/>
        </p:nvSpPr>
        <p:spPr>
          <a:xfrm>
            <a:off x="2926080" y="1554480"/>
            <a:ext cx="457200" cy="457200"/>
          </a:xfrm>
          <a:prstGeom prst="rect">
            <a:avLst/>
          </a:prstGeom>
          <a:noFill/>
          <a:ln/>
        </p:spPr>
        <p:txBody>
          <a:bodyPr wrap="square" lIns="0" tIns="0" rIns="0" bIns="0" rtlCol="0" anchor="ctr"/>
          <a:lstStyle/>
          <a:p>
            <a:pPr indent="0" marL="0">
              <a:buNone/>
            </a:pPr>
            <a:r>
              <a:rPr lang="en-US" sz="2800" b="1" dirty="0">
                <a:solidFill>
                  <a:srgbClr val="D4A853"/>
                </a:solidFill>
                <a:latin typeface="Calibri" pitchFamily="34" charset="0"/>
                <a:ea typeface="Calibri" pitchFamily="34" charset="-122"/>
                <a:cs typeface="Calibri" pitchFamily="34" charset="-120"/>
              </a:rPr>
              <a:t>2</a:t>
            </a:r>
            <a:endParaRPr lang="en-US" sz="2800" dirty="0"/>
          </a:p>
        </p:txBody>
      </p:sp>
      <p:sp>
        <p:nvSpPr>
          <p:cNvPr id="12" name="Text 10"/>
          <p:cNvSpPr/>
          <p:nvPr/>
        </p:nvSpPr>
        <p:spPr>
          <a:xfrm>
            <a:off x="2926080" y="2057400"/>
            <a:ext cx="15544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Reconfigure</a:t>
            </a:r>
            <a:endParaRPr lang="en-US" sz="1400" dirty="0"/>
          </a:p>
        </p:txBody>
      </p:sp>
      <p:sp>
        <p:nvSpPr>
          <p:cNvPr id="13" name="Text 11"/>
          <p:cNvSpPr/>
          <p:nvPr/>
        </p:nvSpPr>
        <p:spPr>
          <a:xfrm>
            <a:off x="2926080" y="2468880"/>
            <a:ext cx="1554480" cy="1645920"/>
          </a:xfrm>
          <a:prstGeom prst="rect">
            <a:avLst/>
          </a:prstGeom>
          <a:noFill/>
          <a:ln/>
        </p:spPr>
        <p:txBody>
          <a:bodyPr wrap="square" lIns="0" tIns="0" rIns="0" bIns="0" rtlCol="0" anchor="ctr"/>
          <a:lstStyle/>
          <a:p>
            <a:pPr indent="0" marL="0">
              <a:lnSpc>
                <a:spcPct val="130000"/>
              </a:lnSpc>
              <a:buNone/>
            </a:pPr>
            <a:r>
              <a:rPr lang="en-US" sz="1000" dirty="0">
                <a:solidFill>
                  <a:srgbClr val="999999"/>
                </a:solidFill>
                <a:latin typeface="Calibri" pitchFamily="34" charset="0"/>
                <a:ea typeface="Calibri" pitchFamily="34" charset="-122"/>
                <a:cs typeface="Calibri" pitchFamily="34" charset="-120"/>
              </a:rPr>
              <a:t>Change parameters. Swap assets. See what changes.</a:t>
            </a:r>
            <a:endParaRPr lang="en-US" sz="1000" dirty="0"/>
          </a:p>
          <a:p>
            <a:pPr indent="0" marL="0">
              <a:lnSpc>
                <a:spcPct val="130000"/>
              </a:lnSpc>
              <a:buNone/>
            </a:pPr>
            <a:r>
              <a:rPr lang="en-US" sz="1000" dirty="0">
                <a:solidFill>
                  <a:srgbClr val="999999"/>
                </a:solidFill>
                <a:latin typeface="Calibri" pitchFamily="34" charset="0"/>
                <a:ea typeface="Calibri" pitchFamily="34" charset="-122"/>
                <a:cs typeface="Calibri" pitchFamily="34" charset="-120"/>
              </a:rPr>
              <a:t>"I can make this my own by tuning it."</a:t>
            </a:r>
            <a:endParaRPr lang="en-US" sz="1000" dirty="0"/>
          </a:p>
        </p:txBody>
      </p:sp>
      <p:sp>
        <p:nvSpPr>
          <p:cNvPr id="14" name="Shape 12"/>
          <p:cNvSpPr/>
          <p:nvPr/>
        </p:nvSpPr>
        <p:spPr>
          <a:xfrm>
            <a:off x="4846320" y="1371600"/>
            <a:ext cx="1828800" cy="2926080"/>
          </a:xfrm>
          <a:prstGeom prst="rect">
            <a:avLst/>
          </a:prstGeom>
          <a:solidFill>
            <a:srgbClr val="1A1A1A"/>
          </a:solidFill>
          <a:ln/>
        </p:spPr>
      </p:sp>
      <p:sp>
        <p:nvSpPr>
          <p:cNvPr id="15" name="Shape 13"/>
          <p:cNvSpPr/>
          <p:nvPr/>
        </p:nvSpPr>
        <p:spPr>
          <a:xfrm>
            <a:off x="4846320" y="1371600"/>
            <a:ext cx="1828800" cy="36576"/>
          </a:xfrm>
          <a:prstGeom prst="rect">
            <a:avLst/>
          </a:prstGeom>
          <a:solidFill>
            <a:srgbClr val="6B9EBF"/>
          </a:solidFill>
          <a:ln/>
        </p:spPr>
      </p:sp>
      <p:sp>
        <p:nvSpPr>
          <p:cNvPr id="16" name="Text 14"/>
          <p:cNvSpPr/>
          <p:nvPr/>
        </p:nvSpPr>
        <p:spPr>
          <a:xfrm>
            <a:off x="4983480" y="1554480"/>
            <a:ext cx="457200" cy="457200"/>
          </a:xfrm>
          <a:prstGeom prst="rect">
            <a:avLst/>
          </a:prstGeom>
          <a:noFill/>
          <a:ln/>
        </p:spPr>
        <p:txBody>
          <a:bodyPr wrap="square" lIns="0" tIns="0" rIns="0" bIns="0" rtlCol="0" anchor="ctr"/>
          <a:lstStyle/>
          <a:p>
            <a:pPr indent="0" marL="0">
              <a:buNone/>
            </a:pPr>
            <a:r>
              <a:rPr lang="en-US" sz="2800" b="1" dirty="0">
                <a:solidFill>
                  <a:srgbClr val="6B9EBF"/>
                </a:solidFill>
                <a:latin typeface="Calibri" pitchFamily="34" charset="0"/>
                <a:ea typeface="Calibri" pitchFamily="34" charset="-122"/>
                <a:cs typeface="Calibri" pitchFamily="34" charset="-120"/>
              </a:rPr>
              <a:t>3</a:t>
            </a:r>
            <a:endParaRPr lang="en-US" sz="2800" dirty="0"/>
          </a:p>
        </p:txBody>
      </p:sp>
      <p:sp>
        <p:nvSpPr>
          <p:cNvPr id="17" name="Text 15"/>
          <p:cNvSpPr/>
          <p:nvPr/>
        </p:nvSpPr>
        <p:spPr>
          <a:xfrm>
            <a:off x="4983480" y="2057400"/>
            <a:ext cx="15544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Recombine</a:t>
            </a:r>
            <a:endParaRPr lang="en-US" sz="1400" dirty="0"/>
          </a:p>
        </p:txBody>
      </p:sp>
      <p:sp>
        <p:nvSpPr>
          <p:cNvPr id="18" name="Text 16"/>
          <p:cNvSpPr/>
          <p:nvPr/>
        </p:nvSpPr>
        <p:spPr>
          <a:xfrm>
            <a:off x="4983480" y="2468880"/>
            <a:ext cx="1554480" cy="1645920"/>
          </a:xfrm>
          <a:prstGeom prst="rect">
            <a:avLst/>
          </a:prstGeom>
          <a:noFill/>
          <a:ln/>
        </p:spPr>
        <p:txBody>
          <a:bodyPr wrap="square" lIns="0" tIns="0" rIns="0" bIns="0" rtlCol="0" anchor="ctr"/>
          <a:lstStyle/>
          <a:p>
            <a:pPr indent="0" marL="0">
              <a:lnSpc>
                <a:spcPct val="130000"/>
              </a:lnSpc>
              <a:buNone/>
            </a:pPr>
            <a:r>
              <a:rPr lang="en-US" sz="1000" dirty="0">
                <a:solidFill>
                  <a:srgbClr val="999999"/>
                </a:solidFill>
                <a:latin typeface="Calibri" pitchFamily="34" charset="0"/>
                <a:ea typeface="Calibri" pitchFamily="34" charset="-122"/>
                <a:cs typeface="Calibri" pitchFamily="34" charset="-120"/>
              </a:rPr>
              <a:t>Wire existing modules in new ways. Layer systems together.</a:t>
            </a:r>
            <a:endParaRPr lang="en-US" sz="1000" dirty="0"/>
          </a:p>
          <a:p>
            <a:pPr indent="0" marL="0">
              <a:lnSpc>
                <a:spcPct val="130000"/>
              </a:lnSpc>
              <a:buNone/>
            </a:pPr>
            <a:r>
              <a:rPr lang="en-US" sz="1000" dirty="0">
                <a:solidFill>
                  <a:srgbClr val="999999"/>
                </a:solidFill>
                <a:latin typeface="Calibri" pitchFamily="34" charset="0"/>
                <a:ea typeface="Calibri" pitchFamily="34" charset="-122"/>
                <a:cs typeface="Calibri" pitchFamily="34" charset="-120"/>
              </a:rPr>
              <a:t>"I can combine parts into something new."</a:t>
            </a:r>
            <a:endParaRPr lang="en-US" sz="1000" dirty="0"/>
          </a:p>
        </p:txBody>
      </p:sp>
      <p:sp>
        <p:nvSpPr>
          <p:cNvPr id="19" name="Shape 17"/>
          <p:cNvSpPr/>
          <p:nvPr/>
        </p:nvSpPr>
        <p:spPr>
          <a:xfrm>
            <a:off x="6903720" y="1371600"/>
            <a:ext cx="1828800" cy="2926080"/>
          </a:xfrm>
          <a:prstGeom prst="rect">
            <a:avLst/>
          </a:prstGeom>
          <a:solidFill>
            <a:srgbClr val="1A1A1A"/>
          </a:solidFill>
          <a:ln/>
        </p:spPr>
      </p:sp>
      <p:sp>
        <p:nvSpPr>
          <p:cNvPr id="20" name="Shape 18"/>
          <p:cNvSpPr/>
          <p:nvPr/>
        </p:nvSpPr>
        <p:spPr>
          <a:xfrm>
            <a:off x="6903720" y="1371600"/>
            <a:ext cx="1828800" cy="36576"/>
          </a:xfrm>
          <a:prstGeom prst="rect">
            <a:avLst/>
          </a:prstGeom>
          <a:solidFill>
            <a:srgbClr val="C45C4A"/>
          </a:solidFill>
          <a:ln/>
        </p:spPr>
      </p:sp>
      <p:sp>
        <p:nvSpPr>
          <p:cNvPr id="21" name="Text 19"/>
          <p:cNvSpPr/>
          <p:nvPr/>
        </p:nvSpPr>
        <p:spPr>
          <a:xfrm>
            <a:off x="7040880" y="1554480"/>
            <a:ext cx="457200" cy="457200"/>
          </a:xfrm>
          <a:prstGeom prst="rect">
            <a:avLst/>
          </a:prstGeom>
          <a:noFill/>
          <a:ln/>
        </p:spPr>
        <p:txBody>
          <a:bodyPr wrap="square" lIns="0" tIns="0" rIns="0" bIns="0" rtlCol="0" anchor="ctr"/>
          <a:lstStyle/>
          <a:p>
            <a:pPr indent="0" marL="0">
              <a:buNone/>
            </a:pPr>
            <a:r>
              <a:rPr lang="en-US" sz="2800" b="1" dirty="0">
                <a:solidFill>
                  <a:srgbClr val="C45C4A"/>
                </a:solidFill>
                <a:latin typeface="Calibri" pitchFamily="34" charset="0"/>
                <a:ea typeface="Calibri" pitchFamily="34" charset="-122"/>
                <a:cs typeface="Calibri" pitchFamily="34" charset="-120"/>
              </a:rPr>
              <a:t>4</a:t>
            </a:r>
            <a:endParaRPr lang="en-US" sz="2800" dirty="0"/>
          </a:p>
        </p:txBody>
      </p:sp>
      <p:sp>
        <p:nvSpPr>
          <p:cNvPr id="22" name="Text 20"/>
          <p:cNvSpPr/>
          <p:nvPr/>
        </p:nvSpPr>
        <p:spPr>
          <a:xfrm>
            <a:off x="7040880" y="2057400"/>
            <a:ext cx="15544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Generate</a:t>
            </a:r>
            <a:endParaRPr lang="en-US" sz="1400" dirty="0"/>
          </a:p>
        </p:txBody>
      </p:sp>
      <p:sp>
        <p:nvSpPr>
          <p:cNvPr id="23" name="Text 21"/>
          <p:cNvSpPr/>
          <p:nvPr/>
        </p:nvSpPr>
        <p:spPr>
          <a:xfrm>
            <a:off x="7040880" y="2468880"/>
            <a:ext cx="1554480" cy="1645920"/>
          </a:xfrm>
          <a:prstGeom prst="rect">
            <a:avLst/>
          </a:prstGeom>
          <a:noFill/>
          <a:ln/>
        </p:spPr>
        <p:txBody>
          <a:bodyPr wrap="square" lIns="0" tIns="0" rIns="0" bIns="0" rtlCol="0" anchor="ctr"/>
          <a:lstStyle/>
          <a:p>
            <a:pPr indent="0" marL="0">
              <a:lnSpc>
                <a:spcPct val="130000"/>
              </a:lnSpc>
              <a:buNone/>
            </a:pPr>
            <a:r>
              <a:rPr lang="en-US" sz="1000" dirty="0">
                <a:solidFill>
                  <a:srgbClr val="999999"/>
                </a:solidFill>
                <a:latin typeface="Calibri" pitchFamily="34" charset="0"/>
                <a:ea typeface="Calibri" pitchFamily="34" charset="-122"/>
                <a:cs typeface="Calibri" pitchFamily="34" charset="-120"/>
              </a:rPr>
              <a:t>Describe what's missing to AI. Get a new module that fits the pattern.</a:t>
            </a:r>
            <a:endParaRPr lang="en-US" sz="1000" dirty="0"/>
          </a:p>
          <a:p>
            <a:pPr indent="0" marL="0">
              <a:lnSpc>
                <a:spcPct val="130000"/>
              </a:lnSpc>
              <a:buNone/>
            </a:pPr>
            <a:r>
              <a:rPr lang="en-US" sz="1000" dirty="0">
                <a:solidFill>
                  <a:srgbClr val="999999"/>
                </a:solidFill>
                <a:latin typeface="Calibri" pitchFamily="34" charset="0"/>
                <a:ea typeface="Calibri" pitchFamily="34" charset="-122"/>
                <a:cs typeface="Calibri" pitchFamily="34" charset="-120"/>
              </a:rPr>
              <a:t>"I can extend the toolkit for my specific vision."</a:t>
            </a:r>
            <a:endParaRPr lang="en-US" sz="1000" dirty="0"/>
          </a:p>
        </p:txBody>
      </p:sp>
      <p:sp>
        <p:nvSpPr>
          <p:cNvPr id="24" name="Text 22"/>
          <p:cNvSpPr/>
          <p:nvPr/>
        </p:nvSpPr>
        <p:spPr>
          <a:xfrm>
            <a:off x="731520" y="4434840"/>
            <a:ext cx="7315200" cy="320040"/>
          </a:xfrm>
          <a:prstGeom prst="rect">
            <a:avLst/>
          </a:prstGeom>
          <a:noFill/>
          <a:ln/>
        </p:spPr>
        <p:txBody>
          <a:bodyPr wrap="square" lIns="0" tIns="0" rIns="0" bIns="0" rtlCol="0" anchor="ctr"/>
          <a:lstStyle/>
          <a:p>
            <a:pPr indent="0" marL="0">
              <a:buNone/>
            </a:pPr>
            <a:r>
              <a:rPr lang="en-US" sz="1100" i="1" dirty="0">
                <a:solidFill>
                  <a:srgbClr val="666666"/>
                </a:solidFill>
                <a:latin typeface="Calibri" pitchFamily="34" charset="0"/>
                <a:ea typeface="Calibri" pitchFamily="34" charset="-122"/>
                <a:cs typeface="Calibri" pitchFamily="34" charset="-120"/>
              </a:rPr>
              <a:t>Stages 1–3 require zero code. Stage 4 requires clear communication with AI.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Interaction Framework</dc:title>
  <dc:subject>PptxGenJS Presentation</dc:subject>
  <dc:creator>Petar Mavrodiev</dc:creator>
  <cp:lastModifiedBy>Petar Mavrodiev</cp:lastModifiedBy>
  <cp:revision>1</cp:revision>
  <dcterms:created xsi:type="dcterms:W3CDTF">2026-03-03T03:24:00Z</dcterms:created>
  <dcterms:modified xsi:type="dcterms:W3CDTF">2026-03-03T03:24:00Z</dcterms:modified>
</cp:coreProperties>
</file>