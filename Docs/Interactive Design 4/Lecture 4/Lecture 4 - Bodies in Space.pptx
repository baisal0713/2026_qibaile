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10" y="2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18288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Bodies in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918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A040"/>
                </a:solidFill>
                <a:latin typeface="Segoe UI"/>
              </a:defRPr>
            </a:pPr>
            <a:r>
              <a:rPr dirty="0"/>
              <a:t>Interactive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Segoe UI"/>
              </a:defRPr>
            </a:pPr>
            <a:r>
              <a:t>Lecture 4  —  Interaction Design for Artists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858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NABA Milan  · 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914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The Shift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286000"/>
            <a:ext cx="5669280" cy="4114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88"/>
                </a:solidFill>
                <a:latin typeface="Segoe UI"/>
              </a:defRPr>
            </a:pPr>
            <a:r>
              <a:rPr dirty="0"/>
              <a:t>LECTURES 1–3</a:t>
            </a:r>
          </a:p>
          <a:p>
            <a:pPr algn="l">
              <a:spcBef>
                <a:spcPts val="12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The World Lives On Its Own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888888"/>
                </a:solidFill>
                <a:latin typeface="Segoe UI"/>
              </a:defRPr>
            </a:pPr>
            <a:endParaRPr dirty="0"/>
          </a:p>
          <a:p>
            <a:pPr algn="l">
              <a:spcBef>
                <a:spcPts val="600"/>
              </a:spcBef>
              <a:defRPr sz="1800" b="0">
                <a:solidFill>
                  <a:srgbClr val="BBBBBB"/>
                </a:solidFill>
                <a:latin typeface="Segoe UI"/>
              </a:defRPr>
            </a:pPr>
            <a:r>
              <a:rPr dirty="0"/>
              <a:t>Autonomous creatures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BBBBBB"/>
                </a:solidFill>
                <a:latin typeface="Segoe UI"/>
              </a:defRPr>
            </a:pPr>
            <a:r>
              <a:rPr dirty="0"/>
              <a:t>Emergence from simple rules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BBBBBB"/>
                </a:solidFill>
                <a:latin typeface="Segoe UI"/>
              </a:defRPr>
            </a:pPr>
            <a:r>
              <a:rPr dirty="0"/>
              <a:t>Your presence is a disturbance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888888"/>
                </a:solidFill>
                <a:latin typeface="Segoe UI"/>
              </a:defRPr>
            </a:pPr>
            <a:endParaRPr dirty="0"/>
          </a:p>
          <a:p>
            <a:pPr algn="l">
              <a:spcBef>
                <a:spcPts val="600"/>
              </a:spcBef>
              <a:defRPr sz="2000" b="1">
                <a:solidFill>
                  <a:srgbClr val="888888"/>
                </a:solidFill>
                <a:latin typeface="Segoe UI"/>
              </a:defRPr>
            </a:pPr>
            <a:r>
              <a:rPr dirty="0"/>
              <a:t>“What happens without me?”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2286000"/>
            <a:ext cx="5669280" cy="4114800"/>
          </a:xfrm>
          <a:prstGeom prst="rect">
            <a:avLst/>
          </a:prstGeom>
          <a:solidFill>
            <a:srgbClr val="1A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0" y="24688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040"/>
                </a:solidFill>
                <a:latin typeface="Segoe UI"/>
              </a:defRPr>
            </a:pPr>
            <a:r>
              <a:t>LECTURE 4</a:t>
            </a:r>
          </a:p>
          <a:p>
            <a:pPr algn="l">
              <a:spcBef>
                <a:spcPts val="12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World Responds To You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FFA040"/>
                </a:solidFill>
                <a:latin typeface="Segoe UI"/>
              </a:defRPr>
            </a:pPr>
            <a:r>
              <a:t>Reactive environments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A040"/>
                </a:solidFill>
                <a:latin typeface="Segoe UI"/>
              </a:defRPr>
            </a:pPr>
            <a:r>
              <a:t>Body as interface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A040"/>
                </a:solidFill>
                <a:latin typeface="Segoe UI"/>
              </a:defRPr>
            </a:pPr>
            <a:r>
              <a:t>Your presence is the input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2000" b="1">
                <a:solidFill>
                  <a:srgbClr val="FFA040"/>
                </a:solidFill>
                <a:latin typeface="Segoe UI"/>
              </a:defRPr>
            </a:pPr>
            <a:r>
              <a:t>“What happens because of me?”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040"/>
                </a:solidFill>
                <a:latin typeface="Segoe UI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Daan </a:t>
            </a:r>
            <a:r>
              <a:rPr dirty="0" err="1"/>
              <a:t>Roosegaarde</a:t>
            </a:r>
            <a:r>
              <a:rPr dirty="0"/>
              <a:t> — Dune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2006 – ongoing  ·  Rotterdam, NL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BB"/>
                </a:solidFill>
                <a:latin typeface="Segoe UI"/>
              </a:defRPr>
            </a:pPr>
            <a:r>
              <a:t>Hundreds of light fibers line a public walkway.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2200" b="0">
                <a:solidFill>
                  <a:srgbClr val="BBBBBB"/>
                </a:solidFill>
                <a:latin typeface="Segoe UI"/>
              </a:defRPr>
            </a:pPr>
            <a:r>
              <a:t>They glow and hum as you walk past.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BBBBBB"/>
                </a:solidFill>
                <a:latin typeface="Segoe UI"/>
              </a:defRPr>
            </a:pPr>
            <a:r>
              <a:t>They dim when you leave.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2600" b="1">
                <a:solidFill>
                  <a:srgbClr val="FFA040"/>
                </a:solidFill>
                <a:latin typeface="Segoe UI"/>
              </a:defRPr>
            </a:pPr>
            <a:r>
              <a:t>Presence  →  Light + Sound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888888"/>
                </a:solidFill>
                <a:latin typeface="Segoe UI"/>
              </a:defRPr>
            </a:pPr>
            <a:r>
              <a:t>One sensor. One response. Hundreds of copies.</a:t>
            </a:r>
            <a:br/>
            <a:r>
              <a:t>That’s it. And it feels alive.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2286000"/>
            <a:ext cx="5029200" cy="41148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rPr dirty="0"/>
              <a:t>[  image: Dune installation 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0C0FF"/>
                </a:solidFill>
                <a:latin typeface="Segoe UI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Random International — Rain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2012  ·  Barbican, London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BB"/>
                </a:solidFill>
                <a:latin typeface="Segoe UI"/>
              </a:defRPr>
            </a:pPr>
            <a:r>
              <a:t>Rain falls everywhere in a dark room.</a:t>
            </a:r>
          </a:p>
          <a:p>
            <a:pPr algn="l">
              <a:spcBef>
                <a:spcPts val="6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Except where you stand.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2200" b="0">
                <a:solidFill>
                  <a:srgbClr val="BBBBBB"/>
                </a:solidFill>
                <a:latin typeface="Segoe UI"/>
              </a:defRPr>
            </a:pPr>
            <a:r>
              <a:t>Cameras track your position.</a:t>
            </a:r>
            <a:br/>
            <a:r>
              <a:t>Water nozzles shut off above you.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2600" b="1">
                <a:solidFill>
                  <a:srgbClr val="40C0FF"/>
                </a:solidFill>
                <a:latin typeface="Segoe UI"/>
              </a:defRPr>
            </a:pPr>
            <a:r>
              <a:t>Presence  →  Absence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888888"/>
                </a:solidFill>
                <a:latin typeface="Segoe UI"/>
              </a:defRPr>
            </a:pPr>
            <a:r>
              <a:t>The space doesn’t add something.</a:t>
            </a:r>
            <a:br/>
            <a:r>
              <a:t>It removes something. That’s still a response.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2286000"/>
            <a:ext cx="5029200" cy="41148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[  image: Rain Room 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80FF"/>
                </a:solidFill>
                <a:latin typeface="Segoe UI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Chris Milk — The Treachery of Sanctuary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2012  ·  Creators Project, New York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BB"/>
                </a:solidFill>
                <a:latin typeface="Segoe UI"/>
              </a:defRPr>
            </a:pPr>
            <a:r>
              <a:t>Three shadow panels. Same input: your body.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2000" b="0">
                <a:solidFill>
                  <a:srgbClr val="BBBBBB"/>
                </a:solidFill>
                <a:latin typeface="Segoe UI"/>
              </a:defRPr>
            </a:pPr>
            <a:r>
              <a:t>Panel 1: your silhouette dissolves into birds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BBBBBB"/>
                </a:solidFill>
                <a:latin typeface="Segoe UI"/>
              </a:defRPr>
            </a:pPr>
            <a:r>
              <a:t>Panel 2: you grow wings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BBBBBB"/>
                </a:solidFill>
                <a:latin typeface="Segoe UI"/>
              </a:defRPr>
            </a:pPr>
            <a:r>
              <a:t>Panel 3: you flap your arms, release birds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2600" b="1">
                <a:solidFill>
                  <a:srgbClr val="E080FF"/>
                </a:solidFill>
                <a:latin typeface="Segoe UI"/>
              </a:defRPr>
            </a:pPr>
            <a:r>
              <a:t>Body  →  Escalating Transformation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888888"/>
                </a:solidFill>
                <a:latin typeface="Segoe UI"/>
              </a:defRPr>
            </a:pPr>
            <a:r>
              <a:t>The design isn’t the technology.</a:t>
            </a:r>
            <a:br/>
            <a:r>
              <a:t>It’s the mapping between action and response.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2286000"/>
            <a:ext cx="5029200" cy="41148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[  image: Treachery of Sanctuary 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286000"/>
            <a:ext cx="12344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What does the space</a:t>
            </a:r>
            <a:br/>
            <a:r>
              <a:t>know about you?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029200"/>
            <a:ext cx="1234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FA040"/>
                </a:solidFill>
                <a:latin typeface="Segoe UI"/>
              </a:defRPr>
            </a:pPr>
            <a:r>
              <a:t>And what does it do with that knowledge?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486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How the Body Speaks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Four things the space can sense about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103120"/>
            <a:ext cx="2743200" cy="457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2743200" cy="73152"/>
          </a:xfrm>
          <a:prstGeom prst="rect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040"/>
                </a:solidFill>
                <a:latin typeface="Segoe UI"/>
              </a:defRPr>
            </a:pPr>
            <a:r>
              <a:t>PRESENCE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You’re near something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nsolas"/>
              </a:defRPr>
            </a:pPr>
            <a:r>
              <a:t>ProximitySensor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114800"/>
            <a:ext cx="1280160" cy="914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2103120"/>
            <a:ext cx="2743200" cy="457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2743200" cy="73152"/>
          </a:xfrm>
          <a:prstGeom prst="rect">
            <a:avLst/>
          </a:prstGeom>
          <a:solidFill>
            <a:srgbClr val="80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0E0C0"/>
                </a:solidFill>
                <a:latin typeface="Segoe UI"/>
              </a:defRPr>
            </a:pPr>
            <a:r>
              <a:t>GAZE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You’re looking at something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5303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nsolas"/>
              </a:defRPr>
            </a:pPr>
            <a:r>
              <a:t>GazeSensor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4114800"/>
            <a:ext cx="1280160" cy="914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80960" y="2103120"/>
            <a:ext cx="2743200" cy="457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80960" y="2103120"/>
            <a:ext cx="2743200" cy="73152"/>
          </a:xfrm>
          <a:prstGeom prst="rect">
            <a:avLst/>
          </a:prstGeom>
          <a:solidFill>
            <a:srgbClr val="E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80FF"/>
                </a:solidFill>
                <a:latin typeface="Segoe UI"/>
              </a:defRPr>
            </a:pPr>
            <a:r>
              <a:t>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You’re touching something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5303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nsolas"/>
              </a:defRPr>
            </a:pPr>
            <a:r>
              <a:t>TriggerSensor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114800"/>
            <a:ext cx="1280160" cy="914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972800" y="2103120"/>
            <a:ext cx="2743200" cy="457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972800" y="2103120"/>
            <a:ext cx="2743200" cy="73152"/>
          </a:xfrm>
          <a:prstGeom prst="rect">
            <a:avLst/>
          </a:prstGeom>
          <a:solidFill>
            <a:srgbClr val="FF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24712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080"/>
                </a:solidFill>
                <a:latin typeface="Segoe UI"/>
              </a:defRPr>
            </a:pPr>
            <a:r>
              <a:t>INTERACTION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You picked something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5303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nsolas"/>
              </a:defRPr>
            </a:pPr>
            <a:r>
              <a:t>Pickup (new)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704320" y="4114800"/>
            <a:ext cx="1280160" cy="914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486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How the Space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Four ways the environment can respond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103120"/>
            <a:ext cx="2743200" cy="457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2743200" cy="73152"/>
          </a:xfrm>
          <a:prstGeom prst="rect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040"/>
                </a:solidFill>
                <a:latin typeface="Segoe UI"/>
              </a:defRPr>
            </a:pPr>
            <a:r>
              <a:t>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Brightness, color,</a:t>
            </a:r>
            <a:br/>
            <a:r>
              <a:t>shadow, glow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nsolas"/>
              </a:defRPr>
            </a:pPr>
            <a:r>
              <a:t>Light + Emission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114800"/>
            <a:ext cx="1280160" cy="914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2103120"/>
            <a:ext cx="2743200" cy="457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2743200" cy="73152"/>
          </a:xfrm>
          <a:prstGeom prst="rect">
            <a:avLst/>
          </a:prstGeom>
          <a:solidFill>
            <a:srgbClr val="80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0E0C0"/>
                </a:solidFill>
                <a:latin typeface="Segoe UI"/>
              </a:defRPr>
            </a:pPr>
            <a:r>
              <a:t>SURFACE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Material color,</a:t>
            </a:r>
            <a:br/>
            <a:r>
              <a:t>texture, 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5303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nsolas"/>
              </a:defRPr>
            </a:pPr>
            <a:r>
              <a:t>MaterialColor</a:t>
            </a:r>
            <a:br/>
            <a:r>
              <a:t>MaterialFloat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4114800"/>
            <a:ext cx="1280160" cy="914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80960" y="2103120"/>
            <a:ext cx="2743200" cy="457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80960" y="2103120"/>
            <a:ext cx="2743200" cy="73152"/>
          </a:xfrm>
          <a:prstGeom prst="rect">
            <a:avLst/>
          </a:prstGeom>
          <a:solidFill>
            <a:srgbClr val="E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80FF"/>
                </a:solidFill>
                <a:latin typeface="Segoe UI"/>
              </a:defRPr>
            </a:pPr>
            <a:r>
              <a:t>SOUND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Spatial audio,</a:t>
            </a:r>
            <a:br/>
            <a:r>
              <a:t>ambient tones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5303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nsolas"/>
              </a:defRPr>
            </a:pPr>
            <a:r>
              <a:t>SoundPlayer (new)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114800"/>
            <a:ext cx="1280160" cy="914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972800" y="2103120"/>
            <a:ext cx="2743200" cy="457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972800" y="2103120"/>
            <a:ext cx="2743200" cy="73152"/>
          </a:xfrm>
          <a:prstGeom prst="rect">
            <a:avLst/>
          </a:prstGeom>
          <a:solidFill>
            <a:srgbClr val="FF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24712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080"/>
                </a:solidFill>
                <a:latin typeface="Segoe UI"/>
              </a:defRPr>
            </a:pPr>
            <a:r>
              <a:t>ATMOSPHERE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Fog, post-processing,</a:t>
            </a:r>
            <a:br/>
            <a:r>
              <a:t>skybox, mood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5303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nsolas"/>
              </a:defRPr>
            </a:pPr>
            <a:r>
              <a:t>AtmosphereControl</a:t>
            </a:r>
            <a:br/>
            <a:r>
              <a:t>(new)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704320" y="4114800"/>
            <a:ext cx="1280160" cy="914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486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The Design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Any input can drive any output — the mapping is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040"/>
                </a:solidFill>
                <a:latin typeface="Segoe UI"/>
              </a:defRPr>
            </a:pPr>
            <a:r>
              <a:t>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E0C0"/>
                </a:solidFill>
                <a:latin typeface="Segoe UI"/>
              </a:defRPr>
            </a:pPr>
            <a:r>
              <a:t>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80FF"/>
                </a:solidFill>
                <a:latin typeface="Segoe UI"/>
              </a:defRPr>
            </a:pPr>
            <a:r>
              <a:t>Sound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080"/>
                </a:solidFill>
                <a:latin typeface="Segoe UI"/>
              </a:defRPr>
            </a:pPr>
            <a:r>
              <a:t>Atmosphere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860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A040"/>
                </a:solidFill>
                <a:latin typeface="Segoe UI"/>
              </a:defRPr>
            </a:pPr>
            <a:r>
              <a:t>Presence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2331720"/>
            <a:ext cx="2194560" cy="914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423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Pillar glow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2331720"/>
            <a:ext cx="2194560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0" y="2423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44444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2331720"/>
            <a:ext cx="2194560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2423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44444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75720" y="2331720"/>
            <a:ext cx="2194560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21440" y="2423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44444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2918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80E0C0"/>
                </a:solidFill>
                <a:latin typeface="Segoe UI"/>
              </a:defRPr>
            </a:pPr>
            <a:r>
              <a:t>Gaze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337560"/>
            <a:ext cx="2194560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44444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3337560"/>
            <a:ext cx="2194560" cy="914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Panel reveal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3337560"/>
            <a:ext cx="2194560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44444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75720" y="3337560"/>
            <a:ext cx="2194560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521440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44444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2976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080FF"/>
                </a:solidFill>
                <a:latin typeface="Segoe UI"/>
              </a:defRPr>
            </a:pPr>
            <a:r>
              <a:t>Contact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4343400"/>
            <a:ext cx="2194560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4434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44444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4343400"/>
            <a:ext cx="2194560" cy="914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0" y="4434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Tile color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4343400"/>
            <a:ext cx="2194560" cy="914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35440" y="4434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Tile sound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75720" y="4343400"/>
            <a:ext cx="2194560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521440" y="4434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44444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3035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6080"/>
                </a:solidFill>
                <a:latin typeface="Segoe UI"/>
              </a:defRPr>
            </a:pPr>
            <a:r>
              <a:t>Pickup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5349240"/>
            <a:ext cx="2194560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3440" y="5440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44444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03720" y="5349240"/>
            <a:ext cx="2194560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49440" y="5440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44444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5349240"/>
            <a:ext cx="2194560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35440" y="5440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44444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75720" y="5349240"/>
            <a:ext cx="2194560" cy="914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521440" y="5440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Room transform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6583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Segoe UI"/>
              </a:defRPr>
            </a:pPr>
            <a:r>
              <a:t>16 possible mappings. Today we build 4. You choose the rest.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486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From Wiring to Specifying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A new way to create behaviors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103120"/>
            <a:ext cx="5943600" cy="5029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88888"/>
                </a:solidFill>
                <a:latin typeface="Segoe UI"/>
              </a:defRPr>
            </a:pPr>
            <a:r>
              <a:t>BEFORE: Inspector Wiring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onsolas"/>
              </a:defRPr>
            </a:pPr>
            <a:r>
              <a:t>[Pillar]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BBBBB"/>
                </a:solidFill>
                <a:latin typeface="Consolas"/>
              </a:defRPr>
            </a:pPr>
            <a:r>
              <a:t>  ├─ ProximitySensor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BBBBB"/>
                </a:solidFill>
                <a:latin typeface="Consolas"/>
              </a:defRPr>
            </a:pPr>
            <a:r>
              <a:t>  ├─ SensorResponse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BBBBB"/>
                </a:solidFill>
                <a:latin typeface="Consolas"/>
              </a:defRPr>
            </a:pPr>
            <a:r>
              <a:t>  ├─ MaterialEmissionIntensity (on)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BBBBB"/>
                </a:solidFill>
                <a:latin typeface="Consolas"/>
              </a:defRPr>
            </a:pPr>
            <a:r>
              <a:t>  ├─ MaterialEmissionIntensity (off)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5555"/>
                </a:solidFill>
                <a:latin typeface="Consolas"/>
              </a:defRPr>
            </a:pPr>
            <a:r>
              <a:t>  └─ ??? (no light control)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888888"/>
                </a:solidFill>
                <a:latin typeface="Segoe UI"/>
              </a:defRPr>
            </a:pPr>
            <a:r>
              <a:t>5 components, 6 event wires, can’t control light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2103120"/>
            <a:ext cx="5943600" cy="5029200"/>
          </a:xfrm>
          <a:prstGeom prst="rect">
            <a:avLst/>
          </a:prstGeom>
          <a:solidFill>
            <a:srgbClr val="1A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040"/>
                </a:solidFill>
                <a:latin typeface="Segoe UI"/>
              </a:defRPr>
            </a:pPr>
            <a:r>
              <a:t>AFTER: Spec-Driven Controller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onsolas"/>
              </a:defRPr>
            </a:pPr>
            <a:r>
              <a:t>[Pillar]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A040"/>
                </a:solidFill>
                <a:latin typeface="Consolas"/>
              </a:defRPr>
            </a:pPr>
            <a:r>
              <a:t>  ├─ ProximitySensor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FFA040"/>
                </a:solidFill>
                <a:latin typeface="Consolas"/>
              </a:defRPr>
            </a:pPr>
            <a:r>
              <a:t>  └─ GlowOnPresence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FFA040"/>
                </a:solidFill>
                <a:latin typeface="Segoe UI"/>
              </a:defRPr>
            </a:pPr>
            <a:r>
              <a:t>2 components. Name = behavior.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A040"/>
                </a:solidFill>
                <a:latin typeface="Segoe UI"/>
              </a:defRPr>
            </a:pPr>
            <a:r>
              <a:t>Handles emission + light + animation.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888888"/>
                </a:solidFill>
                <a:latin typeface="Segoe UI"/>
              </a:defRPr>
            </a:pPr>
            <a:endParaRPr/>
          </a:p>
          <a:p>
            <a:pPr algn="l">
              <a:spcBef>
                <a:spcPts val="6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You describe what you want.</a:t>
            </a:r>
          </a:p>
          <a:p>
            <a:pPr algn="l">
              <a:spcBef>
                <a:spcPts val="6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AI writes the code.</a:t>
            </a:r>
          </a:p>
          <a:p>
            <a:pPr algn="l">
              <a:spcBef>
                <a:spcPts val="6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You wire 2 references.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486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The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Plain language → describe references, config, behavior → AI generates the 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12344400" cy="53035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1945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040"/>
                </a:solidFill>
                <a:latin typeface="Consolas"/>
              </a:defRPr>
            </a:pPr>
            <a:r>
              <a:t># GlowOnPresence</a:t>
            </a:r>
          </a:p>
          <a:p>
            <a:pPr algn="l">
              <a:spcBef>
                <a:spcPts val="200"/>
              </a:spcBef>
              <a:defRPr sz="800" b="0">
                <a:solidFill>
                  <a:srgbClr val="888888"/>
                </a:solidFill>
                <a:latin typeface="Consolas"/>
              </a:defRPr>
            </a:pPr>
            <a:endParaRPr/>
          </a:p>
          <a:p>
            <a:pPr algn="l">
              <a:spcBef>
                <a:spcPts val="200"/>
              </a:spcBef>
              <a:defRPr sz="1500" b="1">
                <a:solidFill>
                  <a:srgbClr val="80E0C0"/>
                </a:solidFill>
                <a:latin typeface="Consolas"/>
              </a:defRPr>
            </a:pPr>
            <a:r>
              <a:t>## References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BB"/>
                </a:solidFill>
                <a:latin typeface="Consolas"/>
              </a:defRPr>
            </a:pPr>
            <a:r>
              <a:t>- ProximitySensor (on same object)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BB"/>
                </a:solidFill>
                <a:latin typeface="Consolas"/>
              </a:defRPr>
            </a:pPr>
            <a:r>
              <a:t>- Renderer (mesh renderer)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BB"/>
                </a:solidFill>
                <a:latin typeface="Consolas"/>
              </a:defRPr>
            </a:pPr>
            <a:r>
              <a:t>- Light (child point light)</a:t>
            </a:r>
          </a:p>
          <a:p>
            <a:pPr algn="l">
              <a:spcBef>
                <a:spcPts val="200"/>
              </a:spcBef>
              <a:defRPr sz="800" b="0">
                <a:solidFill>
                  <a:srgbClr val="888888"/>
                </a:solidFill>
                <a:latin typeface="Consolas"/>
              </a:defRPr>
            </a:pPr>
            <a:endParaRPr/>
          </a:p>
          <a:p>
            <a:pPr algn="l">
              <a:spcBef>
                <a:spcPts val="200"/>
              </a:spcBef>
              <a:defRPr sz="1500" b="1">
                <a:solidFill>
                  <a:srgbClr val="80E0C0"/>
                </a:solidFill>
                <a:latin typeface="Consolas"/>
              </a:defRPr>
            </a:pPr>
            <a:r>
              <a:t>## Config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BB"/>
                </a:solidFill>
                <a:latin typeface="Consolas"/>
              </a:defRPr>
            </a:pPr>
            <a:r>
              <a:t>- emissionColor (Color, default warm orange)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BB"/>
                </a:solidFill>
                <a:latin typeface="Consolas"/>
              </a:defRPr>
            </a:pPr>
            <a:r>
              <a:t>- activeIntensity (float, default 3.0)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BB"/>
                </a:solidFill>
                <a:latin typeface="Consolas"/>
              </a:defRPr>
            </a:pPr>
            <a:r>
              <a:t>- idleIntensity (float, default 0.0)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BB"/>
                </a:solidFill>
                <a:latin typeface="Consolas"/>
              </a:defRPr>
            </a:pPr>
            <a:r>
              <a:t>- fadeSpeed (float, default 0.5)</a:t>
            </a:r>
          </a:p>
          <a:p>
            <a:pPr algn="l">
              <a:spcBef>
                <a:spcPts val="200"/>
              </a:spcBef>
              <a:defRPr sz="800" b="0">
                <a:solidFill>
                  <a:srgbClr val="888888"/>
                </a:solidFill>
                <a:latin typeface="Consolas"/>
              </a:defRPr>
            </a:pPr>
            <a:endParaRPr/>
          </a:p>
          <a:p>
            <a:pPr algn="l">
              <a:spcBef>
                <a:spcPts val="200"/>
              </a:spcBef>
              <a:defRPr sz="1500" b="1">
                <a:solidFill>
                  <a:srgbClr val="80E0C0"/>
                </a:solidFill>
                <a:latin typeface="Consolas"/>
              </a:defRPr>
            </a:pPr>
            <a:r>
              <a:t>## Behavior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BB"/>
                </a:solidFill>
                <a:latin typeface="Consolas"/>
              </a:defRPr>
            </a:pPr>
            <a:r>
              <a:t>- When sensor detects: animate emission + light to active values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BB"/>
                </a:solidFill>
                <a:latin typeface="Consolas"/>
              </a:defRPr>
            </a:pPr>
            <a:r>
              <a:t>- When sensor loses all: animate back to idle values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BBBBBB"/>
                </a:solidFill>
                <a:latin typeface="Consolas"/>
              </a:defRPr>
            </a:pPr>
            <a:r>
              <a:t>- Use DOTween for smooth animation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486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Today’s Build: The Responsive Room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640080" cy="640080"/>
          </a:xfrm>
          <a:prstGeom prst="rect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0D0D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040"/>
                </a:solidFill>
                <a:latin typeface="Segoe UI"/>
              </a:defRPr>
            </a:pPr>
            <a:r>
              <a:t>Presence →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Pillars glow when you walk near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onsolas"/>
              </a:defRPr>
            </a:pPr>
            <a:r>
              <a:t>ProximitySensor + GlowOnPresence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200400"/>
            <a:ext cx="640080" cy="640080"/>
          </a:xfrm>
          <a:prstGeom prst="rect">
            <a:avLst/>
          </a:prstGeom>
          <a:solidFill>
            <a:srgbClr val="80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0D0D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0E0C0"/>
                </a:solidFill>
                <a:latin typeface="Segoe UI"/>
              </a:defRPr>
            </a:pPr>
            <a:r>
              <a:t>Gaze → 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Wall panels reveal when you look at them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337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onsolas"/>
              </a:defRPr>
            </a:pPr>
            <a:r>
              <a:t>GazeSensor + RevealOnGaze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754880"/>
            <a:ext cx="640080" cy="640080"/>
          </a:xfrm>
          <a:prstGeom prst="rect">
            <a:avLst/>
          </a:prstGeom>
          <a:solidFill>
            <a:srgbClr val="E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800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0D0D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80FF"/>
                </a:solidFill>
                <a:latin typeface="Segoe UI"/>
              </a:defRPr>
            </a:pPr>
            <a:r>
              <a:t>Contact → Sound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212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Floor tiles play tones when you step on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892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onsolas"/>
              </a:defRPr>
            </a:pPr>
            <a:r>
              <a:t>TriggerSensor + SoundOnContact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6309359"/>
            <a:ext cx="640080" cy="640080"/>
          </a:xfrm>
          <a:prstGeom prst="rect">
            <a:avLst/>
          </a:prstGeom>
          <a:solidFill>
            <a:srgbClr val="FF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635507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0D0D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63093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080"/>
                </a:solidFill>
                <a:latin typeface="Segoe UI"/>
              </a:defRPr>
            </a:pPr>
            <a:r>
              <a:t>Pickup → Atmosphere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67665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Crystals transform the entire 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446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onsolas"/>
              </a:defRPr>
            </a:pPr>
            <a:r>
              <a:t>Pickup + AtmosphereControl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73152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One room. Four layers. Each layer is a spec you write → AI generates → you wire.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1371600"/>
            <a:ext cx="12344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The mapping is the art.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0"/>
            <a:ext cx="1234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88888"/>
                </a:solidFill>
                <a:latin typeface="Segoe UI"/>
              </a:defRPr>
            </a:pPr>
            <a:r>
              <a:t>Same room. Same walls. Same pillars.</a:t>
            </a:r>
          </a:p>
          <a:p>
            <a:pPr algn="l">
              <a:spcBef>
                <a:spcPts val="600"/>
              </a:spcBef>
              <a:defRPr sz="2800" b="0">
                <a:solidFill>
                  <a:srgbClr val="888888"/>
                </a:solidFill>
                <a:latin typeface="Segoe UI"/>
              </a:defRPr>
            </a:pPr>
            <a:r>
              <a:t>But what the space knows about you — and what it does with that —</a:t>
            </a:r>
          </a:p>
          <a:p>
            <a:pPr algn="l">
              <a:spcBef>
                <a:spcPts val="600"/>
              </a:spcBef>
              <a:defRPr sz="2800" b="1">
                <a:solidFill>
                  <a:srgbClr val="FFA040"/>
                </a:solidFill>
                <a:latin typeface="Segoe UI"/>
              </a:defRPr>
            </a:pPr>
            <a:r>
              <a:t>changes everything.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400800"/>
            <a:ext cx="1234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Segoe UI"/>
              </a:defRPr>
            </a:pPr>
            <a:r>
              <a:t>Dune fills one cell in the matrix and makes it extraordinary.</a:t>
            </a:r>
            <a:br/>
            <a:r>
              <a:t>You don’t need sixteen. You need the right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782</Words>
  <Application>Microsoft Office PowerPoint</Application>
  <PresentationFormat>Custom</PresentationFormat>
  <Paragraphs>181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Petar A. Mavrodiev</cp:lastModifiedBy>
  <cp:revision>1</cp:revision>
  <dcterms:created xsi:type="dcterms:W3CDTF">2013-01-27T09:14:16Z</dcterms:created>
  <dcterms:modified xsi:type="dcterms:W3CDTF">2026-03-30T11:34:53Z</dcterms:modified>
  <cp:category/>
</cp:coreProperties>
</file>